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73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5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B32AA9-C557-1D7E-DCDA-10DCA016F6D6}" v="1" dt="2026-04-02T23:55:48.3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94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12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1613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7450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36A80-1793-EEAF-AE35-4A688E7C2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C0937D-C89C-9C56-AE3F-C6947F9474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46D226-5A1D-E196-649A-A248F29A30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4C252-0714-0871-DF5E-88BAE29161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562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C4EF"/>
          </a:solidFill>
          <a:ln w="127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822960" y="640080"/>
            <a:ext cx="3291840" cy="3291840"/>
          </a:xfrm>
          <a:prstGeom prst="ellipse">
            <a:avLst/>
          </a:prstGeom>
          <a:solidFill>
            <a:srgbClr val="0C1E2E"/>
          </a:solidFill>
          <a:ln w="12700">
            <a:solidFill>
              <a:srgbClr val="0C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49440" y="1737360"/>
            <a:ext cx="2743200" cy="2743200"/>
          </a:xfrm>
          <a:prstGeom prst="ellipse">
            <a:avLst/>
          </a:prstGeom>
          <a:solidFill>
            <a:srgbClr val="1A1430"/>
          </a:solidFill>
          <a:ln w="12700">
            <a:solidFill>
              <a:srgbClr val="1A1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914400" cy="914400"/>
          </a:xfrm>
          <a:prstGeom prst="ellipse">
            <a:avLst/>
          </a:prstGeom>
          <a:solidFill>
            <a:srgbClr val="12131F"/>
          </a:solidFill>
          <a:ln w="254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589520" y="548640"/>
            <a:ext cx="640080" cy="640080"/>
          </a:xfrm>
          <a:prstGeom prst="ellipse">
            <a:avLst/>
          </a:prstGeom>
          <a:solidFill>
            <a:srgbClr val="12131F"/>
          </a:solidFill>
          <a:ln w="254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0" y="10058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EF0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Advanced Data Science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71600" y="1664208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EC4E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&amp; AI Workshop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0" y="2542032"/>
            <a:ext cx="3657600" cy="457200"/>
          </a:xfrm>
          <a:prstGeom prst="roundRect">
            <a:avLst>
              <a:gd name="adj" fmla="val 30000"/>
            </a:avLst>
          </a:prstGeom>
          <a:solidFill>
            <a:srgbClr val="2EC4EF"/>
          </a:solidFill>
          <a:ln w="127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0" y="2542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  |  Evaluation &amp; Iteration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286000" y="3218688"/>
            <a:ext cx="4572000" cy="0"/>
          </a:xfrm>
          <a:prstGeom prst="line">
            <a:avLst/>
          </a:prstGeom>
          <a:noFill/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71600" y="336499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8FA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Presented by: Gabriela Saldana  &amp;  Henrique Pitta Laranjinha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371600" y="371246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Sprinternship Upskilling  | Lesson 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C1E2E"/>
          </a:solidFill>
          <a:ln w="12700">
            <a:solidFill>
              <a:srgbClr val="0C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EF0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We Cover Today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743200" y="1005840"/>
            <a:ext cx="3657600" cy="0"/>
          </a:xfrm>
          <a:prstGeom prst="line">
            <a:avLst/>
          </a:prstGeom>
          <a:noFill/>
          <a:ln w="254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88036" y="1316737"/>
            <a:ext cx="4091940" cy="1367691"/>
          </a:xfrm>
          <a:prstGeom prst="roundRect">
            <a:avLst>
              <a:gd name="adj" fmla="val 6977"/>
            </a:avLst>
          </a:prstGeom>
          <a:solidFill>
            <a:srgbClr val="0C1E2E"/>
          </a:solidFill>
          <a:ln w="1524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30352" y="1682496"/>
            <a:ext cx="548640" cy="548640"/>
          </a:xfrm>
          <a:prstGeom prst="ellipse">
            <a:avLst/>
          </a:prstGeom>
          <a:solidFill>
            <a:srgbClr val="2EC4EF"/>
          </a:solidFill>
          <a:ln w="127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1682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25296" y="155088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EF0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Evaluation Done Right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25296" y="1859282"/>
            <a:ext cx="2110545" cy="561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matrix, precision, recall, cross-validation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77156" y="1316737"/>
            <a:ext cx="4091940" cy="1367691"/>
          </a:xfrm>
          <a:prstGeom prst="roundRect">
            <a:avLst>
              <a:gd name="adj" fmla="val 6977"/>
            </a:avLst>
          </a:prstGeom>
          <a:solidFill>
            <a:srgbClr val="111D3A"/>
          </a:solidFill>
          <a:ln w="1524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919472" y="1682496"/>
            <a:ext cx="548640" cy="548640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19472" y="1682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32704" y="155088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EF0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Beyond Baseline Models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632704" y="1859282"/>
            <a:ext cx="2410655" cy="561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&amp; XGBoost — tradeoffs and comparisons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88036" y="3127249"/>
            <a:ext cx="4091940" cy="1367691"/>
          </a:xfrm>
          <a:prstGeom prst="roundRect">
            <a:avLst>
              <a:gd name="adj" fmla="val 6977"/>
            </a:avLst>
          </a:prstGeom>
          <a:solidFill>
            <a:srgbClr val="1A1430"/>
          </a:solidFill>
          <a:ln w="1524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30352" y="3493008"/>
            <a:ext cx="548640" cy="5486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0352" y="3493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03020" y="336249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EF0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Feature Importance &amp; Interpretability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34440" y="360273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importance, SHAP values, stakeholder trust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77156" y="3127249"/>
            <a:ext cx="4091940" cy="1367691"/>
          </a:xfrm>
          <a:prstGeom prst="roundRect">
            <a:avLst>
              <a:gd name="adj" fmla="val 6977"/>
            </a:avLst>
          </a:prstGeom>
          <a:solidFill>
            <a:srgbClr val="211C0D"/>
          </a:solidFill>
          <a:ln w="1524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919472" y="3493008"/>
            <a:ext cx="548640" cy="548640"/>
          </a:xfrm>
          <a:prstGeom prst="ellipse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19472" y="3493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14416" y="337413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EF0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Experiment Tracking &amp; Communication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623560" y="360273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experiments, the 3-sentence rule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EF0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Where We Are in the Process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743200" y="1005840"/>
            <a:ext cx="3657600" cy="0"/>
          </a:xfrm>
          <a:prstGeom prst="line">
            <a:avLst/>
          </a:prstGeom>
          <a:noFill/>
          <a:ln w="254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1097280" cy="685800"/>
          </a:xfrm>
          <a:prstGeom prst="roundRect">
            <a:avLst>
              <a:gd name="adj" fmla="val 10667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2344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Business</a:t>
            </a:r>
            <a:endParaRPr lang="en-US" sz="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</a:t>
            </a:r>
            <a:endParaRPr lang="en-US" sz="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371600" y="1577340"/>
            <a:ext cx="146304" cy="0"/>
          </a:xfrm>
          <a:prstGeom prst="line">
            <a:avLst/>
          </a:prstGeom>
          <a:noFill/>
          <a:ln w="1905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17904" y="1234440"/>
            <a:ext cx="1097280" cy="685800"/>
          </a:xfrm>
          <a:prstGeom prst="roundRect">
            <a:avLst>
              <a:gd name="adj" fmla="val 10667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17904" y="12344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</a:t>
            </a:r>
            <a:endParaRPr lang="en-US" sz="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Collection</a:t>
            </a:r>
            <a:endParaRPr lang="en-US" sz="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615184" y="1577340"/>
            <a:ext cx="146304" cy="0"/>
          </a:xfrm>
          <a:prstGeom prst="line">
            <a:avLst/>
          </a:prstGeom>
          <a:noFill/>
          <a:ln w="1905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61488" y="1234440"/>
            <a:ext cx="1097280" cy="685800"/>
          </a:xfrm>
          <a:prstGeom prst="roundRect">
            <a:avLst>
              <a:gd name="adj" fmla="val 10667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61488" y="12344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</a:t>
            </a:r>
            <a:endParaRPr lang="en-US" sz="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Understanding</a:t>
            </a:r>
            <a:endParaRPr lang="en-US" sz="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858768" y="1577340"/>
            <a:ext cx="146304" cy="0"/>
          </a:xfrm>
          <a:prstGeom prst="line">
            <a:avLst/>
          </a:prstGeom>
          <a:noFill/>
          <a:ln w="1905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005072" y="1234440"/>
            <a:ext cx="1097280" cy="685800"/>
          </a:xfrm>
          <a:prstGeom prst="roundRect">
            <a:avLst>
              <a:gd name="adj" fmla="val 10667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05072" y="12344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</a:t>
            </a:r>
            <a:endParaRPr lang="en-US" sz="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Prep</a:t>
            </a:r>
            <a:endParaRPr lang="en-US" sz="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102352" y="1577340"/>
            <a:ext cx="146304" cy="0"/>
          </a:xfrm>
          <a:prstGeom prst="line">
            <a:avLst/>
          </a:prstGeom>
          <a:noFill/>
          <a:ln w="1905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248656" y="1234440"/>
            <a:ext cx="1097280" cy="685800"/>
          </a:xfrm>
          <a:prstGeom prst="roundRect">
            <a:avLst>
              <a:gd name="adj" fmla="val 10667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48656" y="12344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</a:t>
            </a:r>
            <a:endParaRPr lang="en-US" sz="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Training</a:t>
            </a:r>
            <a:endParaRPr lang="en-US" sz="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345936" y="1577340"/>
            <a:ext cx="146304" cy="0"/>
          </a:xfrm>
          <a:prstGeom prst="line">
            <a:avLst/>
          </a:prstGeom>
          <a:noFill/>
          <a:ln w="1905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92240" y="1234440"/>
            <a:ext cx="1097280" cy="685800"/>
          </a:xfrm>
          <a:prstGeom prst="roundRect">
            <a:avLst>
              <a:gd name="adj" fmla="val 10667"/>
            </a:avLst>
          </a:prstGeom>
          <a:solidFill>
            <a:srgbClr val="2EC4EF"/>
          </a:solidFill>
          <a:ln w="127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92240" y="12344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131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Evaluation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589520" y="1577340"/>
            <a:ext cx="146304" cy="0"/>
          </a:xfrm>
          <a:prstGeom prst="line">
            <a:avLst/>
          </a:prstGeom>
          <a:noFill/>
          <a:ln w="1905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735824" y="1234440"/>
            <a:ext cx="1097280" cy="685800"/>
          </a:xfrm>
          <a:prstGeom prst="roundRect">
            <a:avLst>
              <a:gd name="adj" fmla="val 10667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35824" y="12344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Deployment</a:t>
            </a:r>
            <a:endParaRPr lang="en-US" sz="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65760" y="2148840"/>
            <a:ext cx="8412480" cy="502920"/>
          </a:xfrm>
          <a:prstGeom prst="roundRect">
            <a:avLst>
              <a:gd name="adj" fmla="val 18182"/>
            </a:avLst>
          </a:prstGeom>
          <a:solidFill>
            <a:srgbClr val="0C1E2E"/>
          </a:solidFill>
          <a:ln w="1905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2148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C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A first model result is the beginning of iteration — not the end.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2591" y="2945071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1–3 built a working model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92591" y="3393127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now: is it actually good?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092591" y="3841183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alone does not tell the whole story</a:t>
            </a:r>
            <a:endParaRPr lang="en-US" sz="1250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E7AFDBD-07F5-F6B0-6D67-C298AA5F6D95}"/>
              </a:ext>
            </a:extLst>
          </p:cNvPr>
          <p:cNvGrpSpPr/>
          <p:nvPr/>
        </p:nvGrpSpPr>
        <p:grpSpPr>
          <a:xfrm>
            <a:off x="868678" y="3070586"/>
            <a:ext cx="109728" cy="1444205"/>
            <a:chOff x="274320" y="2862072"/>
            <a:chExt cx="109728" cy="1444205"/>
          </a:xfrm>
        </p:grpSpPr>
        <p:sp>
          <p:nvSpPr>
            <p:cNvPr id="26" name="Shape 24"/>
            <p:cNvSpPr/>
            <p:nvPr/>
          </p:nvSpPr>
          <p:spPr>
            <a:xfrm flipH="1">
              <a:off x="274320" y="2862072"/>
              <a:ext cx="109728" cy="100037"/>
            </a:xfrm>
            <a:prstGeom prst="ellipse">
              <a:avLst/>
            </a:prstGeom>
            <a:solidFill>
              <a:srgbClr val="2EC4EF"/>
            </a:solidFill>
            <a:ln w="12700">
              <a:solidFill>
                <a:srgbClr val="2EC4E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Shape 26"/>
            <p:cNvSpPr/>
            <p:nvPr/>
          </p:nvSpPr>
          <p:spPr>
            <a:xfrm flipH="1">
              <a:off x="274320" y="3310128"/>
              <a:ext cx="109728" cy="100037"/>
            </a:xfrm>
            <a:prstGeom prst="ellipse">
              <a:avLst/>
            </a:prstGeom>
            <a:solidFill>
              <a:srgbClr val="2EC4EF"/>
            </a:solidFill>
            <a:ln w="12700">
              <a:solidFill>
                <a:srgbClr val="2EC4E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28"/>
            <p:cNvSpPr/>
            <p:nvPr/>
          </p:nvSpPr>
          <p:spPr>
            <a:xfrm flipH="1">
              <a:off x="274320" y="3758184"/>
              <a:ext cx="109728" cy="100037"/>
            </a:xfrm>
            <a:prstGeom prst="ellipse">
              <a:avLst/>
            </a:prstGeom>
            <a:solidFill>
              <a:srgbClr val="2EC4EF"/>
            </a:solidFill>
            <a:ln w="12700">
              <a:solidFill>
                <a:srgbClr val="2EC4E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Shape 30"/>
            <p:cNvSpPr/>
            <p:nvPr/>
          </p:nvSpPr>
          <p:spPr>
            <a:xfrm flipH="1">
              <a:off x="274320" y="4206240"/>
              <a:ext cx="109728" cy="100037"/>
            </a:xfrm>
            <a:prstGeom prst="ellipse">
              <a:avLst/>
            </a:prstGeom>
            <a:solidFill>
              <a:srgbClr val="2EC4EF"/>
            </a:solidFill>
            <a:ln w="12700">
              <a:solidFill>
                <a:srgbClr val="2EC4E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Text 31"/>
          <p:cNvSpPr/>
          <p:nvPr/>
        </p:nvSpPr>
        <p:spPr>
          <a:xfrm>
            <a:off x="1092591" y="4289239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a structured diagnostic toolkit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818886" y="3073087"/>
            <a:ext cx="96129" cy="100037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29200" y="2945071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 →  understand error types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818886" y="3521143"/>
            <a:ext cx="96129" cy="100037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29200" y="3393127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/ Recall / F1  →  choose by cost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818886" y="3969199"/>
            <a:ext cx="96129" cy="100037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029200" y="3841183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 →  rank ordering performance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818886" y="4417255"/>
            <a:ext cx="96129" cy="100037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029200" y="4289239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 →  stable, reliable estimates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731520"/>
            <a:ext cx="164592" cy="3840480"/>
          </a:xfrm>
          <a:prstGeom prst="rect">
            <a:avLst/>
          </a:prstGeom>
          <a:solidFill>
            <a:srgbClr val="2EC4EF"/>
          </a:solidFill>
          <a:ln w="127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39496" y="731520"/>
            <a:ext cx="1920240" cy="402336"/>
          </a:xfrm>
          <a:prstGeom prst="roundRect">
            <a:avLst>
              <a:gd name="adj" fmla="val 34091"/>
            </a:avLst>
          </a:prstGeom>
          <a:solidFill>
            <a:srgbClr val="2EC4EF"/>
          </a:solidFill>
          <a:ln w="127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9496" y="7315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 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9519" y="1468198"/>
            <a:ext cx="4605997" cy="1470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EF0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Evaluation</a:t>
            </a:r>
            <a:endParaRPr lang="en-US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600" b="1" dirty="0">
                <a:solidFill>
                  <a:srgbClr val="EEF0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Done Right</a:t>
            </a:r>
            <a:endParaRPr lang="en-US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9519" y="3010447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· Precision · Recall · Cross-Validation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040880" y="2834640"/>
            <a:ext cx="1737360" cy="1737360"/>
          </a:xfrm>
          <a:prstGeom prst="ellipse">
            <a:avLst/>
          </a:prstGeom>
          <a:solidFill>
            <a:srgbClr val="12131F"/>
          </a:solidFill>
          <a:ln w="254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818120" y="1325880"/>
            <a:ext cx="1097280" cy="1097280"/>
          </a:xfrm>
          <a:prstGeom prst="ellipse">
            <a:avLst/>
          </a:prstGeom>
          <a:solidFill>
            <a:srgbClr val="12131F"/>
          </a:solidFill>
          <a:ln w="254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4538003" y="377190"/>
            <a:ext cx="42062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36396"/>
            <a:ext cx="32996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74320" y="685018"/>
            <a:ext cx="48994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errors are equal; the matrix tells you where your model fails</a:t>
            </a:r>
            <a:endParaRPr lang="en-US" sz="12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1050328"/>
            <a:ext cx="4114800" cy="1"/>
          </a:xfrm>
          <a:prstGeom prst="line">
            <a:avLst/>
          </a:prstGeom>
          <a:noFill/>
          <a:ln w="254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2094" y="12893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 (TP)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2094" y="15270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survived — actually survived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1993392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52094" y="2115605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 (TN)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2094" y="2353349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died — actually died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74320" y="2798064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52094" y="292697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(FP)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2094" y="316472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survived — actually died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4320" y="3602736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DFEFC2A-C8E8-B580-C4C2-E2CF38DA7A4F}"/>
              </a:ext>
            </a:extLst>
          </p:cNvPr>
          <p:cNvGrpSpPr/>
          <p:nvPr/>
        </p:nvGrpSpPr>
        <p:grpSpPr>
          <a:xfrm>
            <a:off x="489204" y="1453544"/>
            <a:ext cx="100584" cy="2514600"/>
            <a:chOff x="603504" y="1399032"/>
            <a:chExt cx="100584" cy="2514600"/>
          </a:xfrm>
        </p:grpSpPr>
        <p:sp>
          <p:nvSpPr>
            <p:cNvPr id="6" name="Shape 4"/>
            <p:cNvSpPr/>
            <p:nvPr/>
          </p:nvSpPr>
          <p:spPr>
            <a:xfrm>
              <a:off x="603504" y="1399032"/>
              <a:ext cx="100584" cy="100584"/>
            </a:xfrm>
            <a:prstGeom prst="ellipse">
              <a:avLst/>
            </a:prstGeom>
            <a:solidFill>
              <a:srgbClr val="2EC4EF"/>
            </a:solidFill>
            <a:ln w="12700">
              <a:solidFill>
                <a:srgbClr val="2EC4E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603504" y="2203704"/>
              <a:ext cx="100584" cy="100584"/>
            </a:xfrm>
            <a:prstGeom prst="ellipse">
              <a:avLst/>
            </a:prstGeom>
            <a:solidFill>
              <a:srgbClr val="5B8DEF"/>
            </a:solidFill>
            <a:ln w="12700">
              <a:solidFill>
                <a:srgbClr val="5B8DE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Shape 12"/>
            <p:cNvSpPr/>
            <p:nvPr/>
          </p:nvSpPr>
          <p:spPr>
            <a:xfrm>
              <a:off x="603504" y="3008376"/>
              <a:ext cx="100584" cy="100584"/>
            </a:xfrm>
            <a:prstGeom prst="ellipse">
              <a:avLst/>
            </a:prstGeom>
            <a:solidFill>
              <a:srgbClr val="A78BFA"/>
            </a:solidFill>
            <a:ln w="1270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16"/>
            <p:cNvSpPr/>
            <p:nvPr/>
          </p:nvSpPr>
          <p:spPr>
            <a:xfrm>
              <a:off x="603504" y="3813048"/>
              <a:ext cx="100584" cy="100584"/>
            </a:xfrm>
            <a:prstGeom prst="ellipse">
              <a:avLst/>
            </a:prstGeom>
            <a:solidFill>
              <a:srgbClr val="F4845F"/>
            </a:solidFill>
            <a:ln w="12700">
              <a:solidFill>
                <a:srgbClr val="F4845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 17"/>
          <p:cNvSpPr/>
          <p:nvPr/>
        </p:nvSpPr>
        <p:spPr>
          <a:xfrm>
            <a:off x="772668" y="36987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 (FN)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2668" y="39364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died — actually survived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604004" y="482678"/>
            <a:ext cx="1389888" cy="886968"/>
          </a:xfrm>
          <a:prstGeom prst="rect">
            <a:avLst/>
          </a:prstGeom>
          <a:solidFill>
            <a:srgbClr val="12131F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04004" y="482678"/>
            <a:ext cx="13898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21324" y="482678"/>
            <a:ext cx="1389888" cy="886968"/>
          </a:xfrm>
          <a:prstGeom prst="rect">
            <a:avLst/>
          </a:prstGeom>
          <a:solidFill>
            <a:srgbClr val="0C1B2B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021324" y="482678"/>
            <a:ext cx="13898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0</a:t>
            </a:r>
            <a:endParaRPr lang="en-US" sz="11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438644" y="482678"/>
            <a:ext cx="1389888" cy="886968"/>
          </a:xfrm>
          <a:prstGeom prst="rect">
            <a:avLst/>
          </a:prstGeom>
          <a:solidFill>
            <a:srgbClr val="0C1B2B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438644" y="482678"/>
            <a:ext cx="13898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1</a:t>
            </a:r>
            <a:endParaRPr lang="en-US" sz="11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604004" y="1397078"/>
            <a:ext cx="1389888" cy="886968"/>
          </a:xfrm>
          <a:prstGeom prst="rect">
            <a:avLst/>
          </a:prstGeom>
          <a:solidFill>
            <a:srgbClr val="0C1B2B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604004" y="1397078"/>
            <a:ext cx="13898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0</a:t>
            </a:r>
            <a:endParaRPr lang="en-US" sz="11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021324" y="1397078"/>
            <a:ext cx="1389888" cy="886968"/>
          </a:xfrm>
          <a:prstGeom prst="rect">
            <a:avLst/>
          </a:prstGeom>
          <a:solidFill>
            <a:srgbClr val="0C2215"/>
          </a:solidFill>
          <a:ln w="12700">
            <a:solidFill>
              <a:srgbClr val="1A4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021324" y="1397078"/>
            <a:ext cx="13898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7438644" y="1397078"/>
            <a:ext cx="1389888" cy="886968"/>
          </a:xfrm>
          <a:prstGeom prst="rect">
            <a:avLst/>
          </a:prstGeom>
          <a:solidFill>
            <a:srgbClr val="220C15"/>
          </a:solidFill>
          <a:ln w="12700">
            <a:solidFill>
              <a:srgbClr val="4A1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438644" y="1397078"/>
            <a:ext cx="13898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4604004" y="2311478"/>
            <a:ext cx="1389888" cy="886968"/>
          </a:xfrm>
          <a:prstGeom prst="rect">
            <a:avLst/>
          </a:prstGeom>
          <a:solidFill>
            <a:srgbClr val="0C1B2B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604004" y="2311478"/>
            <a:ext cx="13898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1</a:t>
            </a:r>
            <a:endParaRPr lang="en-US" sz="11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021324" y="2311478"/>
            <a:ext cx="1389888" cy="886968"/>
          </a:xfrm>
          <a:prstGeom prst="rect">
            <a:avLst/>
          </a:prstGeom>
          <a:solidFill>
            <a:srgbClr val="220C15"/>
          </a:solidFill>
          <a:ln w="12700">
            <a:solidFill>
              <a:srgbClr val="4A1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021324" y="2311478"/>
            <a:ext cx="13898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7438644" y="2311478"/>
            <a:ext cx="1389888" cy="886968"/>
          </a:xfrm>
          <a:prstGeom prst="rect">
            <a:avLst/>
          </a:prstGeom>
          <a:solidFill>
            <a:srgbClr val="0C2215"/>
          </a:solidFill>
          <a:ln w="12700">
            <a:solidFill>
              <a:srgbClr val="1A4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438644" y="2311478"/>
            <a:ext cx="13898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4595466" y="3248075"/>
            <a:ext cx="4260948" cy="1667802"/>
          </a:xfrm>
          <a:prstGeom prst="roundRect">
            <a:avLst>
              <a:gd name="adj" fmla="val 9804"/>
            </a:avLst>
          </a:prstGeom>
          <a:solidFill>
            <a:srgbClr val="0A0C1A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595466" y="3285435"/>
            <a:ext cx="4265676" cy="87016"/>
          </a:xfrm>
          <a:prstGeom prst="roundRect">
            <a:avLst>
              <a:gd name="adj" fmla="val 166667"/>
            </a:avLst>
          </a:prstGeom>
          <a:solidFill>
            <a:srgbClr val="2EC4EF"/>
          </a:solidFill>
          <a:ln w="127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26040" y="3579876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confusion_matrix, classification_report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 = confusion_matrix(y_test, y_pred)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print(classification_report(y_test, y_pred))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Shows: precision, recall, f1-score per class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 &amp; F1 Score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576775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metric based on which error is more costly</a:t>
            </a:r>
            <a:endParaRPr lang="en-US" sz="125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0" y="896815"/>
            <a:ext cx="3657600" cy="0"/>
          </a:xfrm>
          <a:prstGeom prst="line">
            <a:avLst/>
          </a:prstGeom>
          <a:noFill/>
          <a:ln w="254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65176" y="1107127"/>
            <a:ext cx="2788920" cy="2967226"/>
          </a:xfrm>
          <a:prstGeom prst="roundRect">
            <a:avLst>
              <a:gd name="adj" fmla="val 3934"/>
            </a:avLst>
          </a:prstGeom>
          <a:solidFill>
            <a:srgbClr val="0C1E2E"/>
          </a:solidFill>
          <a:ln w="1905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21208" y="1252377"/>
            <a:ext cx="2286000" cy="339031"/>
          </a:xfrm>
          <a:prstGeom prst="roundRect">
            <a:avLst>
              <a:gd name="adj" fmla="val 31250"/>
            </a:avLst>
          </a:prstGeom>
          <a:solidFill>
            <a:srgbClr val="2EC4EF"/>
          </a:solidFill>
          <a:ln w="127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1208" y="1198567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" y="1765495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252848"/>
          </a:solidFill>
          <a:ln w="127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9768" y="1765495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/ (TP + FP)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29768" y="2332423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</a:t>
            </a:r>
            <a:endParaRPr lang="en-US" sz="1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29768" y="2542734"/>
            <a:ext cx="2468880" cy="402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predicted positives, how many were actually positive?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" y="3009431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when:</a:t>
            </a:r>
            <a:endParaRPr lang="en-US" sz="1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27113" y="3233107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are costly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" y="3502855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filter — don't delete real emails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72968" y="1107127"/>
            <a:ext cx="2788920" cy="2967226"/>
          </a:xfrm>
          <a:prstGeom prst="roundRect">
            <a:avLst>
              <a:gd name="adj" fmla="val 3934"/>
            </a:avLst>
          </a:prstGeom>
          <a:solidFill>
            <a:srgbClr val="111D3A"/>
          </a:solidFill>
          <a:ln w="1905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429000" y="1252377"/>
            <a:ext cx="2286000" cy="339031"/>
          </a:xfrm>
          <a:prstGeom prst="roundRect">
            <a:avLst>
              <a:gd name="adj" fmla="val 31250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29000" y="1198567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337560" y="1765495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252848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37560" y="1765495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/ (TP + FN)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3337560" y="2332423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</a:t>
            </a:r>
            <a:endParaRPr lang="en-US" sz="1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3337560" y="2554166"/>
            <a:ext cx="2468880" cy="390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actual positives, how many did we catch?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3009431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when:</a:t>
            </a:r>
            <a:endParaRPr lang="en-US" sz="1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3334905" y="3233107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are costly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37560" y="3502855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detection — missing a case is dangerous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80760" y="1107127"/>
            <a:ext cx="2788920" cy="2967226"/>
          </a:xfrm>
          <a:prstGeom prst="roundRect">
            <a:avLst>
              <a:gd name="adj" fmla="val 3934"/>
            </a:avLst>
          </a:prstGeom>
          <a:solidFill>
            <a:srgbClr val="1A1430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336792" y="1252377"/>
            <a:ext cx="2286000" cy="339031"/>
          </a:xfrm>
          <a:prstGeom prst="roundRect">
            <a:avLst>
              <a:gd name="adj" fmla="val 3125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36792" y="1198567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245352" y="1765495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252848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45352" y="1765495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× P × R / (P + R)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6245352" y="2332423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</a:t>
            </a:r>
            <a:endParaRPr lang="en-US" sz="1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6245352" y="2542734"/>
            <a:ext cx="2468880" cy="402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balancing both precision and recall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45352" y="3009431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when:</a:t>
            </a:r>
            <a:endParaRPr lang="en-US" sz="1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6242697" y="3233107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one balanced metric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45352" y="3502855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 datasets where both errors matter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94036" y="4320537"/>
            <a:ext cx="6949440" cy="347472"/>
          </a:xfrm>
          <a:prstGeom prst="roundRect">
            <a:avLst>
              <a:gd name="adj" fmla="val 39474"/>
            </a:avLst>
          </a:prstGeom>
          <a:solidFill>
            <a:srgbClr val="2EC4EF"/>
          </a:solidFill>
          <a:ln w="127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94036" y="4320537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Metric choice is a BUSINESS decision, not a math decision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Metrics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379476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your output is a number, not a category — different tools apply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595360" cy="329184"/>
          </a:xfrm>
          <a:prstGeom prst="roundRect">
            <a:avLst>
              <a:gd name="adj" fmla="val 22222"/>
            </a:avLst>
          </a:prstGeom>
          <a:solidFill>
            <a:srgbClr val="1A1430"/>
          </a:solidFill>
          <a:ln w="1524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8422" y="731520"/>
            <a:ext cx="83655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ROC-AUC, Precision, Recall, and F1 are classification metrics only. For regression (predicting a continuous number), use the metrics below.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167216"/>
            <a:ext cx="2287551" cy="1632204"/>
          </a:xfrm>
          <a:prstGeom prst="roundRect">
            <a:avLst>
              <a:gd name="adj" fmla="val 6024"/>
            </a:avLst>
          </a:prstGeom>
          <a:solidFill>
            <a:srgbClr val="0C1E2E"/>
          </a:solidFill>
          <a:ln w="1524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84048" y="1267568"/>
            <a:ext cx="566928" cy="310896"/>
          </a:xfrm>
          <a:prstGeom prst="roundRect">
            <a:avLst>
              <a:gd name="adj" fmla="val 44118"/>
            </a:avLst>
          </a:prstGeom>
          <a:solidFill>
            <a:srgbClr val="2EC4EF"/>
          </a:solidFill>
          <a:ln w="127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126756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33272" y="1309511"/>
            <a:ext cx="1384774" cy="26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1674708"/>
            <a:ext cx="1893119" cy="310896"/>
          </a:xfrm>
          <a:prstGeom prst="roundRect">
            <a:avLst>
              <a:gd name="adj" fmla="val 17647"/>
            </a:avLst>
          </a:prstGeom>
          <a:solidFill>
            <a:srgbClr val="252848"/>
          </a:solidFill>
          <a:ln w="127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1674708"/>
            <a:ext cx="2021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C4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mean( |y − ŷ| 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9768" y="2058756"/>
            <a:ext cx="201168" cy="201168"/>
          </a:xfrm>
          <a:prstGeom prst="ellipse">
            <a:avLst/>
          </a:prstGeom>
          <a:solidFill>
            <a:srgbClr val="1A4A2A"/>
          </a:solidFill>
          <a:ln w="12700">
            <a:solidFill>
              <a:srgbClr val="1A4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9768" y="20587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067900"/>
            <a:ext cx="1701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units as target — easy to explain to anyone.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9768" y="2378796"/>
            <a:ext cx="201168" cy="201168"/>
          </a:xfrm>
          <a:prstGeom prst="ellipse">
            <a:avLst/>
          </a:prstGeom>
          <a:solidFill>
            <a:srgbClr val="4A1A2A"/>
          </a:solidFill>
          <a:ln w="12700">
            <a:solidFill>
              <a:srgbClr val="4A1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9768" y="23787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2387940"/>
            <a:ext cx="1701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all errors equally; large outliers don't stand out.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641532" y="1185531"/>
            <a:ext cx="2485618" cy="1632204"/>
          </a:xfrm>
          <a:prstGeom prst="roundRect">
            <a:avLst>
              <a:gd name="adj" fmla="val 6024"/>
            </a:avLst>
          </a:prstGeom>
          <a:solidFill>
            <a:srgbClr val="111D3A"/>
          </a:solidFill>
          <a:ln w="1524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51569" y="1270578"/>
            <a:ext cx="647054" cy="310896"/>
          </a:xfrm>
          <a:prstGeom prst="roundRect">
            <a:avLst>
              <a:gd name="adj" fmla="val 44118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66602" y="1270684"/>
            <a:ext cx="6470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461391" y="1278106"/>
            <a:ext cx="169582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97289" y="1667180"/>
            <a:ext cx="2142641" cy="310896"/>
          </a:xfrm>
          <a:prstGeom prst="roundRect">
            <a:avLst>
              <a:gd name="adj" fmla="val 17647"/>
            </a:avLst>
          </a:prstGeom>
          <a:solidFill>
            <a:srgbClr val="252848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97289" y="1667180"/>
            <a:ext cx="214264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√( mean( (y − ŷ)² ) 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815577" y="2051228"/>
            <a:ext cx="201168" cy="201168"/>
          </a:xfrm>
          <a:prstGeom prst="ellipse">
            <a:avLst/>
          </a:prstGeom>
          <a:solidFill>
            <a:srgbClr val="1A4A2A"/>
          </a:solidFill>
          <a:ln w="12700">
            <a:solidFill>
              <a:srgbClr val="1A4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815577" y="20512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117329" y="2060372"/>
            <a:ext cx="19436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Penalises large errors more heavily than MAE.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815577" y="2371268"/>
            <a:ext cx="201168" cy="201168"/>
          </a:xfrm>
          <a:prstGeom prst="ellipse">
            <a:avLst/>
          </a:prstGeom>
          <a:solidFill>
            <a:srgbClr val="4A1A2A"/>
          </a:solidFill>
          <a:ln w="12700">
            <a:solidFill>
              <a:srgbClr val="4A1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815577" y="23712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117329" y="2410788"/>
            <a:ext cx="182260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outliers — one big miss can dominate the score.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28600" y="2927435"/>
            <a:ext cx="1995406" cy="2008775"/>
          </a:xfrm>
          <a:prstGeom prst="roundRect">
            <a:avLst>
              <a:gd name="adj" fmla="val 6024"/>
            </a:avLst>
          </a:prstGeom>
          <a:solidFill>
            <a:srgbClr val="1A1430"/>
          </a:solidFill>
          <a:ln w="1524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65760" y="3045514"/>
            <a:ext cx="640080" cy="274320"/>
          </a:xfrm>
          <a:prstGeom prst="roundRect">
            <a:avLst>
              <a:gd name="adj" fmla="val 44118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" y="304551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09950" y="3023722"/>
            <a:ext cx="7570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R-Squared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3412068"/>
            <a:ext cx="1734260" cy="310896"/>
          </a:xfrm>
          <a:prstGeom prst="roundRect">
            <a:avLst>
              <a:gd name="adj" fmla="val 17647"/>
            </a:avLst>
          </a:prstGeom>
          <a:solidFill>
            <a:srgbClr val="252848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65760" y="3412068"/>
            <a:ext cx="1734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1 − SS_res / SS_tot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84048" y="3811963"/>
            <a:ext cx="201168" cy="201168"/>
          </a:xfrm>
          <a:prstGeom prst="ellipse">
            <a:avLst/>
          </a:prstGeom>
          <a:solidFill>
            <a:srgbClr val="1A4A2A"/>
          </a:solidFill>
          <a:ln w="12700">
            <a:solidFill>
              <a:srgbClr val="1A4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84048" y="37961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5800" y="3906017"/>
            <a:ext cx="12669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 scale: 1.0 is perfect, 0 means no better than the mean.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84048" y="4338925"/>
            <a:ext cx="201168" cy="201168"/>
          </a:xfrm>
          <a:prstGeom prst="ellipse">
            <a:avLst/>
          </a:prstGeom>
          <a:solidFill>
            <a:srgbClr val="4A1A2A"/>
          </a:solidFill>
          <a:ln w="12700">
            <a:solidFill>
              <a:srgbClr val="4A1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 flipV="1">
            <a:off x="384048" y="4317323"/>
            <a:ext cx="201168" cy="256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85800" y="4410119"/>
            <a:ext cx="12669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inflate with more features — use Adjusted R² instead.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324590" y="2947080"/>
            <a:ext cx="2832626" cy="1989130"/>
          </a:xfrm>
          <a:prstGeom prst="roundRect">
            <a:avLst>
              <a:gd name="adj" fmla="val 6024"/>
            </a:avLst>
          </a:prstGeom>
          <a:solidFill>
            <a:srgbClr val="211C0D"/>
          </a:solidFill>
          <a:ln w="1524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410590" y="3054310"/>
            <a:ext cx="664793" cy="287281"/>
          </a:xfrm>
          <a:prstGeom prst="roundRect">
            <a:avLst>
              <a:gd name="adj" fmla="val 44118"/>
            </a:avLst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454407" y="3052354"/>
            <a:ext cx="577157" cy="257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3118797" y="3024502"/>
            <a:ext cx="19918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Percentage Error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410916" y="3431712"/>
            <a:ext cx="2650055" cy="310896"/>
          </a:xfrm>
          <a:prstGeom prst="roundRect">
            <a:avLst>
              <a:gd name="adj" fmla="val 17647"/>
            </a:avLst>
          </a:prstGeom>
          <a:solidFill>
            <a:srgbClr val="252848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410916" y="3431712"/>
            <a:ext cx="26500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mean( |y − ŷ| / |y| ) × 100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550866" y="3923489"/>
            <a:ext cx="201168" cy="201168"/>
          </a:xfrm>
          <a:prstGeom prst="ellipse">
            <a:avLst/>
          </a:prstGeom>
          <a:solidFill>
            <a:srgbClr val="1A4A2A"/>
          </a:solidFill>
          <a:ln w="12700">
            <a:solidFill>
              <a:srgbClr val="1A4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550866" y="3923489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852618" y="3932633"/>
            <a:ext cx="23177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Scale-independent and intuitive across different datasets.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550866" y="4243529"/>
            <a:ext cx="201168" cy="201168"/>
          </a:xfrm>
          <a:prstGeom prst="ellipse">
            <a:avLst/>
          </a:prstGeom>
          <a:solidFill>
            <a:srgbClr val="4A1A2A"/>
          </a:solidFill>
          <a:ln w="12700">
            <a:solidFill>
              <a:srgbClr val="4A1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550866" y="4243529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2852618" y="4252673"/>
            <a:ext cx="1883819" cy="473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down when actual values are zero or near zero.</a:t>
            </a:r>
            <a:endParaRPr lang="en-US" sz="950" dirty="0"/>
          </a:p>
        </p:txBody>
      </p:sp>
      <p:sp>
        <p:nvSpPr>
          <p:cNvPr id="58" name="Shape 53">
            <a:extLst>
              <a:ext uri="{FF2B5EF4-FFF2-40B4-BE49-F238E27FC236}">
                <a16:creationId xmlns:a16="http://schemas.microsoft.com/office/drawing/2014/main" id="{7E9DA2A0-4041-2357-32D7-B1B882D0B52A}"/>
              </a:ext>
            </a:extLst>
          </p:cNvPr>
          <p:cNvSpPr/>
          <p:nvPr/>
        </p:nvSpPr>
        <p:spPr>
          <a:xfrm>
            <a:off x="5301195" y="1459916"/>
            <a:ext cx="3703320" cy="2857407"/>
          </a:xfrm>
          <a:prstGeom prst="roundRect">
            <a:avLst>
              <a:gd name="adj" fmla="val 12195"/>
            </a:avLst>
          </a:prstGeom>
          <a:solidFill>
            <a:srgbClr val="0A0C1A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5">
            <a:extLst>
              <a:ext uri="{FF2B5EF4-FFF2-40B4-BE49-F238E27FC236}">
                <a16:creationId xmlns:a16="http://schemas.microsoft.com/office/drawing/2014/main" id="{68EAE808-A38C-8F13-17E5-9B97DB5ECC02}"/>
              </a:ext>
            </a:extLst>
          </p:cNvPr>
          <p:cNvSpPr/>
          <p:nvPr/>
        </p:nvSpPr>
        <p:spPr>
          <a:xfrm>
            <a:off x="5435140" y="1743268"/>
            <a:ext cx="3804136" cy="3020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mean_absolute_error, mean_squared_error, r2_score</a:t>
            </a:r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mae  = mean_absolute_error(y_test, y_pred)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rmse = np.sqrt(mean_squared_error(y_test, y_pred))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   = r2_score(y_test, y_pred)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mape = (np.abs((y_test - y_pred) / y_test)).mean() * 100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73">
            <a:extLst>
              <a:ext uri="{FF2B5EF4-FFF2-40B4-BE49-F238E27FC236}">
                <a16:creationId xmlns:a16="http://schemas.microsoft.com/office/drawing/2014/main" id="{77759CD2-B6C4-FB03-CEC5-884533CFEA1A}"/>
              </a:ext>
            </a:extLst>
          </p:cNvPr>
          <p:cNvSpPr/>
          <p:nvPr/>
        </p:nvSpPr>
        <p:spPr>
          <a:xfrm>
            <a:off x="5089460" y="3051180"/>
            <a:ext cx="301752" cy="0"/>
          </a:xfrm>
          <a:prstGeom prst="line">
            <a:avLst/>
          </a:prstGeom>
          <a:noFill/>
          <a:ln w="1905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73">
            <a:extLst>
              <a:ext uri="{FF2B5EF4-FFF2-40B4-BE49-F238E27FC236}">
                <a16:creationId xmlns:a16="http://schemas.microsoft.com/office/drawing/2014/main" id="{E8C48CA2-C305-94E5-9CFA-42669521D35E}"/>
              </a:ext>
            </a:extLst>
          </p:cNvPr>
          <p:cNvSpPr/>
          <p:nvPr/>
        </p:nvSpPr>
        <p:spPr>
          <a:xfrm>
            <a:off x="5089460" y="2571750"/>
            <a:ext cx="301752" cy="0"/>
          </a:xfrm>
          <a:prstGeom prst="line">
            <a:avLst/>
          </a:prstGeom>
          <a:noFill/>
          <a:ln w="1905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73">
            <a:extLst>
              <a:ext uri="{FF2B5EF4-FFF2-40B4-BE49-F238E27FC236}">
                <a16:creationId xmlns:a16="http://schemas.microsoft.com/office/drawing/2014/main" id="{47BD2DC6-F974-79EF-1751-725D9110C4CF}"/>
              </a:ext>
            </a:extLst>
          </p:cNvPr>
          <p:cNvSpPr/>
          <p:nvPr/>
        </p:nvSpPr>
        <p:spPr>
          <a:xfrm>
            <a:off x="5089460" y="2169701"/>
            <a:ext cx="301752" cy="0"/>
          </a:xfrm>
          <a:prstGeom prst="line">
            <a:avLst/>
          </a:prstGeom>
          <a:noFill/>
          <a:ln w="1905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73">
            <a:extLst>
              <a:ext uri="{FF2B5EF4-FFF2-40B4-BE49-F238E27FC236}">
                <a16:creationId xmlns:a16="http://schemas.microsoft.com/office/drawing/2014/main" id="{E8CB9322-25BF-D0AD-849D-34795E688C11}"/>
              </a:ext>
            </a:extLst>
          </p:cNvPr>
          <p:cNvSpPr/>
          <p:nvPr/>
        </p:nvSpPr>
        <p:spPr>
          <a:xfrm>
            <a:off x="5089460" y="1649188"/>
            <a:ext cx="301752" cy="0"/>
          </a:xfrm>
          <a:prstGeom prst="line">
            <a:avLst/>
          </a:prstGeom>
          <a:noFill/>
          <a:ln w="1905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73">
            <a:extLst>
              <a:ext uri="{FF2B5EF4-FFF2-40B4-BE49-F238E27FC236}">
                <a16:creationId xmlns:a16="http://schemas.microsoft.com/office/drawing/2014/main" id="{A729AD97-3621-09BC-CCB7-0882DACB5887}"/>
              </a:ext>
            </a:extLst>
          </p:cNvPr>
          <p:cNvSpPr/>
          <p:nvPr/>
        </p:nvSpPr>
        <p:spPr>
          <a:xfrm>
            <a:off x="5089460" y="1180709"/>
            <a:ext cx="301752" cy="0"/>
          </a:xfrm>
          <a:prstGeom prst="line">
            <a:avLst/>
          </a:prstGeom>
          <a:noFill/>
          <a:ln w="1905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210625" y="54864"/>
            <a:ext cx="267036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48101" y="489204"/>
            <a:ext cx="34335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train/test split = one lucky (or unlucky) result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02222" y="815731"/>
            <a:ext cx="4892040" cy="0"/>
          </a:xfrm>
          <a:prstGeom prst="line">
            <a:avLst/>
          </a:prstGeom>
          <a:noFill/>
          <a:ln w="254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02222" y="969668"/>
            <a:ext cx="941832" cy="411480"/>
          </a:xfrm>
          <a:prstGeom prst="roundRect">
            <a:avLst>
              <a:gd name="adj" fmla="val 13333"/>
            </a:avLst>
          </a:prstGeom>
          <a:solidFill>
            <a:srgbClr val="2EC4EF"/>
          </a:solidFill>
          <a:ln w="127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2222" y="969668"/>
            <a:ext cx="941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189774" y="969668"/>
            <a:ext cx="941832" cy="411480"/>
          </a:xfrm>
          <a:prstGeom prst="roundRect">
            <a:avLst>
              <a:gd name="adj" fmla="val 13333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89774" y="969668"/>
            <a:ext cx="941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177326" y="969668"/>
            <a:ext cx="941832" cy="411480"/>
          </a:xfrm>
          <a:prstGeom prst="roundRect">
            <a:avLst>
              <a:gd name="adj" fmla="val 13333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77326" y="969668"/>
            <a:ext cx="941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64878" y="969668"/>
            <a:ext cx="941832" cy="411480"/>
          </a:xfrm>
          <a:prstGeom prst="roundRect">
            <a:avLst>
              <a:gd name="adj" fmla="val 13333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64878" y="969668"/>
            <a:ext cx="941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52430" y="969668"/>
            <a:ext cx="941832" cy="411480"/>
          </a:xfrm>
          <a:prstGeom prst="roundRect">
            <a:avLst>
              <a:gd name="adj" fmla="val 13333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52430" y="969668"/>
            <a:ext cx="941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186504" y="1047465"/>
            <a:ext cx="237744" cy="237744"/>
          </a:xfrm>
          <a:prstGeom prst="ellipse">
            <a:avLst/>
          </a:prstGeom>
          <a:solidFill>
            <a:srgbClr val="2EC4EF"/>
          </a:solidFill>
          <a:ln w="127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86504" y="104746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8256" y="1047465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02222" y="1445156"/>
            <a:ext cx="941832" cy="411480"/>
          </a:xfrm>
          <a:prstGeom prst="roundRect">
            <a:avLst>
              <a:gd name="adj" fmla="val 13333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02222" y="1445156"/>
            <a:ext cx="941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189774" y="1445156"/>
            <a:ext cx="941832" cy="411480"/>
          </a:xfrm>
          <a:prstGeom prst="roundRect">
            <a:avLst>
              <a:gd name="adj" fmla="val 13333"/>
            </a:avLst>
          </a:prstGeom>
          <a:solidFill>
            <a:srgbClr val="2EC4EF"/>
          </a:solidFill>
          <a:ln w="127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89774" y="1445156"/>
            <a:ext cx="941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177326" y="1445156"/>
            <a:ext cx="941832" cy="411480"/>
          </a:xfrm>
          <a:prstGeom prst="roundRect">
            <a:avLst>
              <a:gd name="adj" fmla="val 13333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177326" y="1445156"/>
            <a:ext cx="941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164878" y="1445156"/>
            <a:ext cx="941832" cy="411480"/>
          </a:xfrm>
          <a:prstGeom prst="roundRect">
            <a:avLst>
              <a:gd name="adj" fmla="val 13333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164878" y="1445156"/>
            <a:ext cx="941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152430" y="1445156"/>
            <a:ext cx="941832" cy="411480"/>
          </a:xfrm>
          <a:prstGeom prst="roundRect">
            <a:avLst>
              <a:gd name="adj" fmla="val 13333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52430" y="1445156"/>
            <a:ext cx="941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186504" y="1522953"/>
            <a:ext cx="237744" cy="237744"/>
          </a:xfrm>
          <a:prstGeom prst="ellipse">
            <a:avLst/>
          </a:prstGeom>
          <a:solidFill>
            <a:srgbClr val="2EC4EF"/>
          </a:solidFill>
          <a:ln w="127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186504" y="152295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8256" y="1522953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2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02222" y="1920644"/>
            <a:ext cx="941832" cy="411480"/>
          </a:xfrm>
          <a:prstGeom prst="roundRect">
            <a:avLst>
              <a:gd name="adj" fmla="val 13333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02222" y="1920644"/>
            <a:ext cx="941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189774" y="1920644"/>
            <a:ext cx="941832" cy="411480"/>
          </a:xfrm>
          <a:prstGeom prst="roundRect">
            <a:avLst>
              <a:gd name="adj" fmla="val 13333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189774" y="1920644"/>
            <a:ext cx="941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177326" y="1920644"/>
            <a:ext cx="941832" cy="411480"/>
          </a:xfrm>
          <a:prstGeom prst="roundRect">
            <a:avLst>
              <a:gd name="adj" fmla="val 13333"/>
            </a:avLst>
          </a:prstGeom>
          <a:solidFill>
            <a:srgbClr val="2EC4EF"/>
          </a:solidFill>
          <a:ln w="127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177326" y="1920644"/>
            <a:ext cx="941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3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164878" y="1920644"/>
            <a:ext cx="941832" cy="411480"/>
          </a:xfrm>
          <a:prstGeom prst="roundRect">
            <a:avLst>
              <a:gd name="adj" fmla="val 13333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164878" y="1920644"/>
            <a:ext cx="941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152430" y="1920644"/>
            <a:ext cx="941832" cy="411480"/>
          </a:xfrm>
          <a:prstGeom prst="roundRect">
            <a:avLst>
              <a:gd name="adj" fmla="val 13333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152430" y="1920644"/>
            <a:ext cx="941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181148" y="2037484"/>
            <a:ext cx="237744" cy="237744"/>
          </a:xfrm>
          <a:prstGeom prst="ellipse">
            <a:avLst/>
          </a:prstGeom>
          <a:solidFill>
            <a:srgbClr val="2EC4EF"/>
          </a:solidFill>
          <a:ln w="127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186504" y="20443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488256" y="20443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3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02222" y="2396132"/>
            <a:ext cx="941832" cy="411480"/>
          </a:xfrm>
          <a:prstGeom prst="roundRect">
            <a:avLst>
              <a:gd name="adj" fmla="val 13333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02222" y="2396132"/>
            <a:ext cx="941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189774" y="2396132"/>
            <a:ext cx="941832" cy="411480"/>
          </a:xfrm>
          <a:prstGeom prst="roundRect">
            <a:avLst>
              <a:gd name="adj" fmla="val 13333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189774" y="2396132"/>
            <a:ext cx="941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177326" y="2396132"/>
            <a:ext cx="941832" cy="411480"/>
          </a:xfrm>
          <a:prstGeom prst="roundRect">
            <a:avLst>
              <a:gd name="adj" fmla="val 13333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177326" y="2396132"/>
            <a:ext cx="941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164878" y="2396132"/>
            <a:ext cx="941832" cy="411480"/>
          </a:xfrm>
          <a:prstGeom prst="roundRect">
            <a:avLst>
              <a:gd name="adj" fmla="val 13333"/>
            </a:avLst>
          </a:prstGeom>
          <a:solidFill>
            <a:srgbClr val="2EC4EF"/>
          </a:solidFill>
          <a:ln w="127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164878" y="2396132"/>
            <a:ext cx="941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4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152430" y="2396132"/>
            <a:ext cx="941832" cy="411480"/>
          </a:xfrm>
          <a:prstGeom prst="roundRect">
            <a:avLst>
              <a:gd name="adj" fmla="val 13333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152430" y="2396132"/>
            <a:ext cx="941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186504" y="2473929"/>
            <a:ext cx="237744" cy="237744"/>
          </a:xfrm>
          <a:prstGeom prst="ellipse">
            <a:avLst/>
          </a:prstGeom>
          <a:solidFill>
            <a:srgbClr val="2EC4EF"/>
          </a:solidFill>
          <a:ln w="127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186504" y="247392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488256" y="2473929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4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02222" y="2871620"/>
            <a:ext cx="941832" cy="411480"/>
          </a:xfrm>
          <a:prstGeom prst="roundRect">
            <a:avLst>
              <a:gd name="adj" fmla="val 13333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202222" y="2871620"/>
            <a:ext cx="941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189774" y="2871620"/>
            <a:ext cx="941832" cy="411480"/>
          </a:xfrm>
          <a:prstGeom prst="roundRect">
            <a:avLst>
              <a:gd name="adj" fmla="val 13333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1189774" y="2871620"/>
            <a:ext cx="941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177326" y="2871620"/>
            <a:ext cx="941832" cy="411480"/>
          </a:xfrm>
          <a:prstGeom prst="roundRect">
            <a:avLst>
              <a:gd name="adj" fmla="val 13333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2177326" y="2871620"/>
            <a:ext cx="941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3164878" y="2871620"/>
            <a:ext cx="941832" cy="411480"/>
          </a:xfrm>
          <a:prstGeom prst="roundRect">
            <a:avLst>
              <a:gd name="adj" fmla="val 13333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3164878" y="2871620"/>
            <a:ext cx="941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152430" y="2871620"/>
            <a:ext cx="941832" cy="411480"/>
          </a:xfrm>
          <a:prstGeom prst="roundRect">
            <a:avLst>
              <a:gd name="adj" fmla="val 13333"/>
            </a:avLst>
          </a:prstGeom>
          <a:solidFill>
            <a:srgbClr val="2EC4EF"/>
          </a:solidFill>
          <a:ln w="127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4152430" y="2871620"/>
            <a:ext cx="941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5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5186504" y="2949417"/>
            <a:ext cx="237744" cy="237744"/>
          </a:xfrm>
          <a:prstGeom prst="ellipse">
            <a:avLst/>
          </a:prstGeom>
          <a:solidFill>
            <a:srgbClr val="2EC4EF"/>
          </a:solidFill>
          <a:ln w="127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5186504" y="294941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5488256" y="2949417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5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148101" y="3347109"/>
            <a:ext cx="5000283" cy="1662540"/>
          </a:xfrm>
          <a:prstGeom prst="roundRect">
            <a:avLst>
              <a:gd name="adj" fmla="val 9259"/>
            </a:avLst>
          </a:prstGeom>
          <a:solidFill>
            <a:srgbClr val="0A0C1A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148101" y="3360391"/>
            <a:ext cx="5000283" cy="104911"/>
          </a:xfrm>
          <a:prstGeom prst="roundRect">
            <a:avLst>
              <a:gd name="adj" fmla="val 166667"/>
            </a:avLst>
          </a:prstGeom>
          <a:solidFill>
            <a:srgbClr val="2EC4EF"/>
          </a:solidFill>
          <a:ln w="127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339969" y="3543704"/>
            <a:ext cx="4389120" cy="1382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cross_val_score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cross_val_score(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model, X, y, cv=5,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scoring="accuracy"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Result: array of 5 accuracy scores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scores.mean() and scores.std()</a:t>
            </a:r>
            <a:endParaRPr lang="en-US" sz="1100" dirty="0"/>
          </a:p>
        </p:txBody>
      </p:sp>
      <p:sp>
        <p:nvSpPr>
          <p:cNvPr id="96" name="Shape 78">
            <a:extLst>
              <a:ext uri="{FF2B5EF4-FFF2-40B4-BE49-F238E27FC236}">
                <a16:creationId xmlns:a16="http://schemas.microsoft.com/office/drawing/2014/main" id="{14002D56-65D4-F331-3F1E-0C8B76C193EB}"/>
              </a:ext>
            </a:extLst>
          </p:cNvPr>
          <p:cNvSpPr/>
          <p:nvPr/>
        </p:nvSpPr>
        <p:spPr>
          <a:xfrm>
            <a:off x="6518323" y="681419"/>
            <a:ext cx="2413546" cy="595815"/>
          </a:xfrm>
          <a:prstGeom prst="roundRect">
            <a:avLst>
              <a:gd name="adj" fmla="val 11111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80">
            <a:extLst>
              <a:ext uri="{FF2B5EF4-FFF2-40B4-BE49-F238E27FC236}">
                <a16:creationId xmlns:a16="http://schemas.microsoft.com/office/drawing/2014/main" id="{4484A746-E119-82ED-176B-AD51429E045F}"/>
              </a:ext>
            </a:extLst>
          </p:cNvPr>
          <p:cNvSpPr/>
          <p:nvPr/>
        </p:nvSpPr>
        <p:spPr>
          <a:xfrm>
            <a:off x="6625982" y="764719"/>
            <a:ext cx="160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not a point</a:t>
            </a:r>
            <a:endParaRPr lang="en-US" sz="1200" dirty="0"/>
          </a:p>
        </p:txBody>
      </p:sp>
      <p:sp>
        <p:nvSpPr>
          <p:cNvPr id="99" name="Text 81">
            <a:extLst>
              <a:ext uri="{FF2B5EF4-FFF2-40B4-BE49-F238E27FC236}">
                <a16:creationId xmlns:a16="http://schemas.microsoft.com/office/drawing/2014/main" id="{47734964-36F7-6BAF-8CD0-79A1AEF38D5C}"/>
              </a:ext>
            </a:extLst>
          </p:cNvPr>
          <p:cNvSpPr/>
          <p:nvPr/>
        </p:nvSpPr>
        <p:spPr>
          <a:xfrm>
            <a:off x="6625982" y="953691"/>
            <a:ext cx="23058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variance, not just one number</a:t>
            </a:r>
            <a:endParaRPr lang="en-US" sz="1100" dirty="0"/>
          </a:p>
        </p:txBody>
      </p:sp>
      <p:sp>
        <p:nvSpPr>
          <p:cNvPr id="100" name="Shape 82">
            <a:extLst>
              <a:ext uri="{FF2B5EF4-FFF2-40B4-BE49-F238E27FC236}">
                <a16:creationId xmlns:a16="http://schemas.microsoft.com/office/drawing/2014/main" id="{98A97CCA-6BCF-262B-B34F-41C8C1A18AA3}"/>
              </a:ext>
            </a:extLst>
          </p:cNvPr>
          <p:cNvSpPr/>
          <p:nvPr/>
        </p:nvSpPr>
        <p:spPr>
          <a:xfrm>
            <a:off x="6200983" y="1419656"/>
            <a:ext cx="2774791" cy="626610"/>
          </a:xfrm>
          <a:prstGeom prst="roundRect">
            <a:avLst>
              <a:gd name="adj" fmla="val 11111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84">
            <a:extLst>
              <a:ext uri="{FF2B5EF4-FFF2-40B4-BE49-F238E27FC236}">
                <a16:creationId xmlns:a16="http://schemas.microsoft.com/office/drawing/2014/main" id="{7334F627-C881-C247-C12C-102A3A4034D7}"/>
              </a:ext>
            </a:extLst>
          </p:cNvPr>
          <p:cNvSpPr/>
          <p:nvPr/>
        </p:nvSpPr>
        <p:spPr>
          <a:xfrm>
            <a:off x="6304376" y="1505831"/>
            <a:ext cx="8412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test</a:t>
            </a:r>
            <a:endParaRPr lang="en-US" sz="1200" dirty="0"/>
          </a:p>
        </p:txBody>
      </p:sp>
      <p:sp>
        <p:nvSpPr>
          <p:cNvPr id="103" name="Text 85">
            <a:extLst>
              <a:ext uri="{FF2B5EF4-FFF2-40B4-BE49-F238E27FC236}">
                <a16:creationId xmlns:a16="http://schemas.microsoft.com/office/drawing/2014/main" id="{8011CB20-BB88-93A2-89CB-2E6F1FD9169C}"/>
              </a:ext>
            </a:extLst>
          </p:cNvPr>
          <p:cNvSpPr/>
          <p:nvPr/>
        </p:nvSpPr>
        <p:spPr>
          <a:xfrm>
            <a:off x="6298028" y="1687487"/>
            <a:ext cx="26978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std means model is sensitive to data split</a:t>
            </a:r>
            <a:endParaRPr lang="en-US" sz="1100" dirty="0"/>
          </a:p>
        </p:txBody>
      </p:sp>
      <p:sp>
        <p:nvSpPr>
          <p:cNvPr id="104" name="Shape 86">
            <a:extLst>
              <a:ext uri="{FF2B5EF4-FFF2-40B4-BE49-F238E27FC236}">
                <a16:creationId xmlns:a16="http://schemas.microsoft.com/office/drawing/2014/main" id="{ADED97F5-B74B-7F73-8B79-2D849647B5E4}"/>
              </a:ext>
            </a:extLst>
          </p:cNvPr>
          <p:cNvSpPr/>
          <p:nvPr/>
        </p:nvSpPr>
        <p:spPr>
          <a:xfrm>
            <a:off x="6518323" y="2208148"/>
            <a:ext cx="2452165" cy="612241"/>
          </a:xfrm>
          <a:prstGeom prst="roundRect">
            <a:avLst>
              <a:gd name="adj" fmla="val 11111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88">
            <a:extLst>
              <a:ext uri="{FF2B5EF4-FFF2-40B4-BE49-F238E27FC236}">
                <a16:creationId xmlns:a16="http://schemas.microsoft.com/office/drawing/2014/main" id="{35D2238A-4557-ADBA-7FED-5CFD4987E060}"/>
              </a:ext>
            </a:extLst>
          </p:cNvPr>
          <p:cNvSpPr/>
          <p:nvPr/>
        </p:nvSpPr>
        <p:spPr>
          <a:xfrm>
            <a:off x="6632854" y="2297325"/>
            <a:ext cx="1029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StratifiedKFold</a:t>
            </a:r>
            <a:endParaRPr lang="en-US" sz="1200" dirty="0"/>
          </a:p>
        </p:txBody>
      </p:sp>
      <p:sp>
        <p:nvSpPr>
          <p:cNvPr id="107" name="Text 89">
            <a:extLst>
              <a:ext uri="{FF2B5EF4-FFF2-40B4-BE49-F238E27FC236}">
                <a16:creationId xmlns:a16="http://schemas.microsoft.com/office/drawing/2014/main" id="{01E1A7F0-C69D-D5D3-89EA-CA4D97B0D40F}"/>
              </a:ext>
            </a:extLst>
          </p:cNvPr>
          <p:cNvSpPr/>
          <p:nvPr/>
        </p:nvSpPr>
        <p:spPr>
          <a:xfrm>
            <a:off x="6633374" y="2471272"/>
            <a:ext cx="23371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imbalanced classification targets</a:t>
            </a:r>
            <a:endParaRPr lang="en-US" sz="1100" dirty="0"/>
          </a:p>
        </p:txBody>
      </p:sp>
      <p:sp>
        <p:nvSpPr>
          <p:cNvPr id="108" name="Shape 90">
            <a:extLst>
              <a:ext uri="{FF2B5EF4-FFF2-40B4-BE49-F238E27FC236}">
                <a16:creationId xmlns:a16="http://schemas.microsoft.com/office/drawing/2014/main" id="{01426BB2-8E29-F3F1-C9C3-8908EAFFB52A}"/>
              </a:ext>
            </a:extLst>
          </p:cNvPr>
          <p:cNvSpPr/>
          <p:nvPr/>
        </p:nvSpPr>
        <p:spPr>
          <a:xfrm>
            <a:off x="6670987" y="2949417"/>
            <a:ext cx="2298010" cy="608065"/>
          </a:xfrm>
          <a:prstGeom prst="roundRect">
            <a:avLst>
              <a:gd name="adj" fmla="val 11111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92">
            <a:extLst>
              <a:ext uri="{FF2B5EF4-FFF2-40B4-BE49-F238E27FC236}">
                <a16:creationId xmlns:a16="http://schemas.microsoft.com/office/drawing/2014/main" id="{E5C1E20A-D58E-3F9E-69C6-C2105F7D6F79}"/>
              </a:ext>
            </a:extLst>
          </p:cNvPr>
          <p:cNvSpPr/>
          <p:nvPr/>
        </p:nvSpPr>
        <p:spPr>
          <a:xfrm>
            <a:off x="6795030" y="3014540"/>
            <a:ext cx="9493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cv=5 or cv=10</a:t>
            </a:r>
            <a:endParaRPr lang="en-US" sz="1200" dirty="0"/>
          </a:p>
        </p:txBody>
      </p:sp>
      <p:sp>
        <p:nvSpPr>
          <p:cNvPr id="111" name="Text 93">
            <a:extLst>
              <a:ext uri="{FF2B5EF4-FFF2-40B4-BE49-F238E27FC236}">
                <a16:creationId xmlns:a16="http://schemas.microsoft.com/office/drawing/2014/main" id="{EEEDBB1D-936E-7209-41D3-AC164ED52747}"/>
              </a:ext>
            </a:extLst>
          </p:cNvPr>
          <p:cNvSpPr/>
          <p:nvPr/>
        </p:nvSpPr>
        <p:spPr>
          <a:xfrm>
            <a:off x="6781470" y="3203752"/>
            <a:ext cx="21875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choices in industry practice</a:t>
            </a:r>
            <a:endParaRPr lang="en-US" sz="1100" dirty="0"/>
          </a:p>
        </p:txBody>
      </p:sp>
      <p:sp>
        <p:nvSpPr>
          <p:cNvPr id="113" name="Text 74">
            <a:extLst>
              <a:ext uri="{FF2B5EF4-FFF2-40B4-BE49-F238E27FC236}">
                <a16:creationId xmlns:a16="http://schemas.microsoft.com/office/drawing/2014/main" id="{1C7257A1-AC8E-F6B1-1A53-EE53747EAE15}"/>
              </a:ext>
            </a:extLst>
          </p:cNvPr>
          <p:cNvSpPr/>
          <p:nvPr/>
        </p:nvSpPr>
        <p:spPr>
          <a:xfrm>
            <a:off x="5757362" y="4606141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± Std = CV Score</a:t>
            </a:r>
            <a:endParaRPr lang="en-US" sz="1200" dirty="0"/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FF302204-0CC8-AA5A-09C1-09B6798B82D2}"/>
              </a:ext>
            </a:extLst>
          </p:cNvPr>
          <p:cNvCxnSpPr/>
          <p:nvPr/>
        </p:nvCxnSpPr>
        <p:spPr>
          <a:xfrm>
            <a:off x="5255781" y="4773478"/>
            <a:ext cx="4417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5903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731520"/>
            <a:ext cx="164592" cy="3840480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1920240" cy="402336"/>
          </a:xfrm>
          <a:prstGeom prst="roundRect">
            <a:avLst>
              <a:gd name="adj" fmla="val 34091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 02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444752"/>
            <a:ext cx="5943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EF0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Beyond Baseline</a:t>
            </a:r>
            <a:endParaRPr lang="en-US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600" b="1" dirty="0">
                <a:solidFill>
                  <a:srgbClr val="EEF0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Models</a:t>
            </a:r>
            <a:endParaRPr lang="en-US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" y="3136392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XGBoost · Tradeoffs · Comparison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040880" y="2834640"/>
            <a:ext cx="1737360" cy="1737360"/>
          </a:xfrm>
          <a:prstGeom prst="ellipse">
            <a:avLst/>
          </a:prstGeom>
          <a:solidFill>
            <a:srgbClr val="12131F"/>
          </a:solidFill>
          <a:ln w="254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818120" y="1325880"/>
            <a:ext cx="1097280" cy="1097280"/>
          </a:xfrm>
          <a:prstGeom prst="ellipse">
            <a:avLst/>
          </a:prstGeom>
          <a:solidFill>
            <a:srgbClr val="12131F"/>
          </a:solidFill>
          <a:ln w="254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807216" y="731520"/>
            <a:ext cx="2971024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Your Next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93192" y="48463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choice is a justified argument — not a lookup table</a:t>
            </a:r>
            <a:endParaRPr lang="en-US" sz="125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2770632" y="768716"/>
            <a:ext cx="3657600" cy="0"/>
          </a:xfrm>
          <a:prstGeom prst="line">
            <a:avLst/>
          </a:prstGeom>
          <a:noFill/>
          <a:ln w="254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97568" y="928116"/>
            <a:ext cx="2788920" cy="3730752"/>
          </a:xfrm>
          <a:prstGeom prst="roundRect">
            <a:avLst>
              <a:gd name="adj" fmla="val 3934"/>
            </a:avLst>
          </a:prstGeom>
          <a:solidFill>
            <a:srgbClr val="0C1E2E"/>
          </a:solidFill>
          <a:ln w="1905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57705" y="1086237"/>
            <a:ext cx="1115568" cy="316089"/>
          </a:xfrm>
          <a:prstGeom prst="roundRect">
            <a:avLst>
              <a:gd name="adj" fmla="val 37500"/>
            </a:avLst>
          </a:prstGeom>
          <a:solidFill>
            <a:srgbClr val="2EC4EF"/>
          </a:solidFill>
          <a:ln w="127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57705" y="1086237"/>
            <a:ext cx="1115568" cy="30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2160" y="1083564"/>
            <a:ext cx="1057022" cy="1058062"/>
          </a:xfrm>
          <a:prstGeom prst="ellipse">
            <a:avLst/>
          </a:prstGeom>
          <a:solidFill>
            <a:srgbClr val="2EC4EF"/>
          </a:solidFill>
          <a:ln w="127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0006" y="1202436"/>
            <a:ext cx="11696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2840" y="227765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840" y="2626772"/>
            <a:ext cx="128016" cy="128016"/>
          </a:xfrm>
          <a:prstGeom prst="ellipse">
            <a:avLst/>
          </a:prstGeom>
          <a:solidFill>
            <a:srgbClr val="2EC4EF"/>
          </a:solidFill>
          <a:ln w="127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4008" y="255795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&amp; fast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12840" y="2873929"/>
            <a:ext cx="128016" cy="128016"/>
          </a:xfrm>
          <a:prstGeom prst="ellipse">
            <a:avLst/>
          </a:prstGeom>
          <a:solidFill>
            <a:srgbClr val="2EC4EF"/>
          </a:solidFill>
          <a:ln w="127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4008" y="2805115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starting benchmark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12840" y="3112604"/>
            <a:ext cx="128016" cy="128016"/>
          </a:xfrm>
          <a:prstGeom prst="ellipse">
            <a:avLst/>
          </a:prstGeom>
          <a:solidFill>
            <a:srgbClr val="2EC4EF"/>
          </a:solidFill>
          <a:ln w="127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4008" y="304379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small data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13074" y="33358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9416" y="3660564"/>
            <a:ext cx="128016" cy="128016"/>
          </a:xfrm>
          <a:prstGeom prst="ellipse">
            <a:avLst/>
          </a:prstGeom>
          <a:solidFill>
            <a:srgbClr val="8B8FAE"/>
          </a:solidFill>
          <a:ln w="12700">
            <a:solidFill>
              <a:srgbClr val="8B8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87160" y="3614844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decision boundary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9416" y="3934884"/>
            <a:ext cx="128016" cy="128016"/>
          </a:xfrm>
          <a:prstGeom prst="ellipse">
            <a:avLst/>
          </a:prstGeom>
          <a:solidFill>
            <a:srgbClr val="8B8FAE"/>
          </a:solidFill>
          <a:ln w="12700">
            <a:solidFill>
              <a:srgbClr val="8B8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7160" y="3889164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with interactions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9416" y="4209204"/>
            <a:ext cx="128016" cy="128016"/>
          </a:xfrm>
          <a:prstGeom prst="ellipse">
            <a:avLst/>
          </a:prstGeom>
          <a:solidFill>
            <a:srgbClr val="8B8FAE"/>
          </a:solidFill>
          <a:ln w="12700">
            <a:solidFill>
              <a:srgbClr val="8B8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87160" y="4163484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feature engineering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5360" y="928116"/>
            <a:ext cx="2788920" cy="3730752"/>
          </a:xfrm>
          <a:prstGeom prst="roundRect">
            <a:avLst>
              <a:gd name="adj" fmla="val 3934"/>
            </a:avLst>
          </a:prstGeom>
          <a:solidFill>
            <a:srgbClr val="111D3A"/>
          </a:solidFill>
          <a:ln w="1905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73944" y="1086237"/>
            <a:ext cx="1115568" cy="316089"/>
          </a:xfrm>
          <a:prstGeom prst="roundRect">
            <a:avLst>
              <a:gd name="adj" fmla="val 37500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73944" y="1086237"/>
            <a:ext cx="1115568" cy="30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369952" y="1083564"/>
            <a:ext cx="1032497" cy="1058062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95406" y="1310109"/>
            <a:ext cx="1202048" cy="645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20632" y="22686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420632" y="2617802"/>
            <a:ext cx="128016" cy="128016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21800" y="254898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non-linear patterns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420632" y="2864959"/>
            <a:ext cx="128016" cy="128016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21800" y="2796145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outliers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420632" y="3103634"/>
            <a:ext cx="128016" cy="128016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621800" y="303482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feature importance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420632" y="332973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438920" y="3660564"/>
            <a:ext cx="128016" cy="128016"/>
          </a:xfrm>
          <a:prstGeom prst="ellipse">
            <a:avLst/>
          </a:prstGeom>
          <a:solidFill>
            <a:srgbClr val="8B8FAE"/>
          </a:solidFill>
          <a:ln w="12700">
            <a:solidFill>
              <a:srgbClr val="8B8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76664" y="3606967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to train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438920" y="3934884"/>
            <a:ext cx="128016" cy="128016"/>
          </a:xfrm>
          <a:prstGeom prst="ellipse">
            <a:avLst/>
          </a:prstGeom>
          <a:solidFill>
            <a:srgbClr val="8B8FAE"/>
          </a:solidFill>
          <a:ln w="12700">
            <a:solidFill>
              <a:srgbClr val="8B8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676663" y="3881287"/>
            <a:ext cx="2096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explain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3438920" y="4209204"/>
            <a:ext cx="128016" cy="128016"/>
          </a:xfrm>
          <a:prstGeom prst="ellipse">
            <a:avLst/>
          </a:prstGeom>
          <a:solidFill>
            <a:srgbClr val="8B8FAE"/>
          </a:solidFill>
          <a:ln w="12700">
            <a:solidFill>
              <a:srgbClr val="8B8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676663" y="4155607"/>
            <a:ext cx="198021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intensive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113152" y="928116"/>
            <a:ext cx="2788920" cy="3730752"/>
          </a:xfrm>
          <a:prstGeom prst="roundRect">
            <a:avLst>
              <a:gd name="adj" fmla="val 3934"/>
            </a:avLst>
          </a:prstGeom>
          <a:solidFill>
            <a:srgbClr val="1A1430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7658488" y="1124712"/>
            <a:ext cx="1115568" cy="316089"/>
          </a:xfrm>
          <a:prstGeom prst="roundRect">
            <a:avLst>
              <a:gd name="adj" fmla="val 375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658488" y="1124712"/>
            <a:ext cx="1115568" cy="30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6277744" y="1124712"/>
            <a:ext cx="1032496" cy="101691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236208" y="1253349"/>
            <a:ext cx="1115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305176" y="22504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305176" y="2599574"/>
            <a:ext cx="128016" cy="12801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506344" y="253076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tabular performance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305176" y="2846731"/>
            <a:ext cx="128016" cy="12801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506344" y="2777917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missing data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6305176" y="3085406"/>
            <a:ext cx="128016" cy="12801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506344" y="301659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tunable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6305176" y="333595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Tradeoffs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6305176" y="3657276"/>
            <a:ext cx="128016" cy="128016"/>
          </a:xfrm>
          <a:prstGeom prst="ellipse">
            <a:avLst/>
          </a:prstGeom>
          <a:solidFill>
            <a:srgbClr val="8B8FAE"/>
          </a:solidFill>
          <a:ln w="12700">
            <a:solidFill>
              <a:srgbClr val="8B8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552064" y="3593268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hyperparameters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6305176" y="3931596"/>
            <a:ext cx="128016" cy="128016"/>
          </a:xfrm>
          <a:prstGeom prst="ellipse">
            <a:avLst/>
          </a:prstGeom>
          <a:solidFill>
            <a:srgbClr val="8B8FAE"/>
          </a:solidFill>
          <a:ln w="12700">
            <a:solidFill>
              <a:srgbClr val="8B8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552064" y="3867588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Overfits small data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6305176" y="4205916"/>
            <a:ext cx="128016" cy="128016"/>
          </a:xfrm>
          <a:prstGeom prst="ellipse">
            <a:avLst/>
          </a:prstGeom>
          <a:solidFill>
            <a:srgbClr val="8B8FAE"/>
          </a:solidFill>
          <a:ln w="12700">
            <a:solidFill>
              <a:srgbClr val="8B8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552064" y="4141908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box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solidFill>
          <a:srgbClr val="12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— Train &amp; Compare on Titanic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0" y="1005840"/>
            <a:ext cx="3657600" cy="0"/>
          </a:xfrm>
          <a:prstGeom prst="line">
            <a:avLst/>
          </a:prstGeom>
          <a:noFill/>
          <a:ln w="254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7280" y="1078992"/>
            <a:ext cx="6949440" cy="384048"/>
          </a:xfrm>
          <a:prstGeom prst="roundRect">
            <a:avLst>
              <a:gd name="adj" fmla="val 35714"/>
            </a:avLst>
          </a:prstGeom>
          <a:solidFill>
            <a:srgbClr val="2EC4EF"/>
          </a:solidFill>
          <a:ln w="127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07899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  |  Run the code · Fill in results · Discuss with neighbors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5166360" cy="3246120"/>
          </a:xfrm>
          <a:prstGeom prst="roundRect">
            <a:avLst>
              <a:gd name="adj" fmla="val 2817"/>
            </a:avLst>
          </a:prstGeom>
          <a:solidFill>
            <a:srgbClr val="0A0C1A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5166360" cy="54864"/>
          </a:xfrm>
          <a:prstGeom prst="roundRect">
            <a:avLst>
              <a:gd name="adj" fmla="val 166667"/>
            </a:avLst>
          </a:prstGeom>
          <a:solidFill>
            <a:srgbClr val="2EC4EF"/>
          </a:solidFill>
          <a:ln w="127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728216"/>
            <a:ext cx="4892040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sklearn.linear_model import LogisticRegression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sklearn.ensemble import RandomForestClassifier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xgboost import XGBClassifier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accuracy_score, roc_auc_score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cross_val_score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 = 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"Logistic Regression": LogisticRegression(max_iter=500),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"Random Forest":       RandomForestClassifier(n_estimators=100, random_state=42),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"XGBoost":             XGBClassifier(eval_metric="logloss", random_state=42),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modelName, model in models.items():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cvScores = cross_val_score(model, X_train, y_train, cv=5, scoring="accuracy")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model.fit(X_train, y_train)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yPred = model.predict(X_test)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yProb = model.predict_proba(X_test)[:,1]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print(modelName, cvScores.mean().round(3),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accuracy_score(yTest, yPred).round(3),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roc_auc_score(yTest, yProb).round(3))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669280" y="16002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0" y="2084832"/>
            <a:ext cx="3154680" cy="512064"/>
          </a:xfrm>
          <a:prstGeom prst="roundRect">
            <a:avLst>
              <a:gd name="adj" fmla="val 14286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815584" y="2231136"/>
            <a:ext cx="237744" cy="237744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815584" y="22311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44768" y="21031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 has the highest CV accuracy?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0" y="2660904"/>
            <a:ext cx="3154680" cy="512064"/>
          </a:xfrm>
          <a:prstGeom prst="roundRect">
            <a:avLst>
              <a:gd name="adj" fmla="val 14286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815584" y="2807208"/>
            <a:ext cx="237744" cy="237744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15584" y="28072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44768" y="267919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test accuracy match CV? What does the gap tell you?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0" y="3236976"/>
            <a:ext cx="3154680" cy="512064"/>
          </a:xfrm>
          <a:prstGeom prst="roundRect">
            <a:avLst>
              <a:gd name="adj" fmla="val 14286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815584" y="3383280"/>
            <a:ext cx="237744" cy="237744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15584" y="33832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44768" y="325526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XGBoost's complexity justified on 891 rows?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0" y="3813048"/>
            <a:ext cx="3154680" cy="512064"/>
          </a:xfrm>
          <a:prstGeom prst="roundRect">
            <a:avLst>
              <a:gd name="adj" fmla="val 14286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815584" y="3959352"/>
            <a:ext cx="237744" cy="237744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815584" y="39593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44768" y="383133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 would you choose to ship, and why?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0" y="4389120"/>
            <a:ext cx="3154680" cy="512064"/>
          </a:xfrm>
          <a:prstGeom prst="roundRect">
            <a:avLst>
              <a:gd name="adj" fmla="val 14286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815584" y="4535424"/>
            <a:ext cx="237744" cy="237744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815584" y="45354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44768" y="440740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tell a non-technical stakeholder?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731520"/>
            <a:ext cx="164592" cy="38404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1920240" cy="402336"/>
          </a:xfrm>
          <a:prstGeom prst="roundRect">
            <a:avLst>
              <a:gd name="adj" fmla="val 34091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 03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444752"/>
            <a:ext cx="5943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EF0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Feature Importance</a:t>
            </a:r>
            <a:endParaRPr lang="en-US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600" b="1" dirty="0">
                <a:solidFill>
                  <a:srgbClr val="EEF0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&amp; Interpretability</a:t>
            </a:r>
            <a:endParaRPr lang="en-US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" y="321868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importance · SHAP values · Stakeholder trust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040880" y="2834640"/>
            <a:ext cx="1737360" cy="1737360"/>
          </a:xfrm>
          <a:prstGeom prst="ellipse">
            <a:avLst/>
          </a:prstGeom>
          <a:solidFill>
            <a:srgbClr val="12131F"/>
          </a:solidFill>
          <a:ln w="254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818120" y="1325880"/>
            <a:ext cx="1097280" cy="1097280"/>
          </a:xfrm>
          <a:prstGeom prst="ellipse">
            <a:avLst/>
          </a:prstGeom>
          <a:solidFill>
            <a:srgbClr val="12131F"/>
          </a:solidFill>
          <a:ln w="254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765369" y="1059562"/>
            <a:ext cx="2847814" cy="332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601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Interpretability Matters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74904" y="5440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unexplainable model is a liability in production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743200" y="864108"/>
            <a:ext cx="3657600" cy="0"/>
          </a:xfrm>
          <a:prstGeom prst="line">
            <a:avLst/>
          </a:prstGeom>
          <a:noFill/>
          <a:ln w="254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4206240" cy="1270858"/>
          </a:xfrm>
          <a:prstGeom prst="roundRect">
            <a:avLst>
              <a:gd name="adj" fmla="val 6742"/>
            </a:avLst>
          </a:prstGeom>
          <a:solidFill>
            <a:srgbClr val="0C1E2E"/>
          </a:solidFill>
          <a:ln w="1524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14544" y="1362301"/>
            <a:ext cx="256032" cy="256032"/>
          </a:xfrm>
          <a:prstGeom prst="ellipse">
            <a:avLst/>
          </a:prstGeom>
          <a:solidFill>
            <a:srgbClr val="2EC4EF"/>
          </a:solidFill>
          <a:ln w="127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3160" y="1312164"/>
            <a:ext cx="17055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5932" y="1618333"/>
            <a:ext cx="31969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no one trusts does not get deployed — regardless of accuracy.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170432"/>
            <a:ext cx="4206240" cy="1270857"/>
          </a:xfrm>
          <a:prstGeom prst="roundRect">
            <a:avLst>
              <a:gd name="adj" fmla="val 6742"/>
            </a:avLst>
          </a:prstGeom>
          <a:solidFill>
            <a:srgbClr val="111D3A"/>
          </a:solidFill>
          <a:ln w="1524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965192" y="1380744"/>
            <a:ext cx="256032" cy="256032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74347" y="131673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Detection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5435" y="1643632"/>
            <a:ext cx="3822192" cy="726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protected attribute drives predictions, you need to know before deployment.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980944"/>
            <a:ext cx="4206240" cy="1298448"/>
          </a:xfrm>
          <a:prstGeom prst="roundRect">
            <a:avLst>
              <a:gd name="adj" fmla="val 6742"/>
            </a:avLst>
          </a:prstGeom>
          <a:solidFill>
            <a:srgbClr val="1A1430"/>
          </a:solidFill>
          <a:ln w="1524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13614" y="3177772"/>
            <a:ext cx="256032" cy="25603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3160" y="3104387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Buy-in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3614" y="3488435"/>
            <a:ext cx="3822192" cy="714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"Sex and Pclass are the strongest predictors" is a statement you can defend in a meeting.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2980944"/>
            <a:ext cx="4206240" cy="1270857"/>
          </a:xfrm>
          <a:prstGeom prst="roundRect">
            <a:avLst>
              <a:gd name="adj" fmla="val 6742"/>
            </a:avLst>
          </a:prstGeom>
          <a:solidFill>
            <a:srgbClr val="211C0D"/>
          </a:solidFill>
          <a:ln w="1524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960542" y="3168395"/>
            <a:ext cx="256032" cy="256032"/>
          </a:xfrm>
          <a:prstGeom prst="ellipse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74347" y="3104387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35280" y="3468520"/>
            <a:ext cx="3822192" cy="6524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shows you when the model is learning the wrong signal from the data.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9240" y="67266"/>
            <a:ext cx="8412480" cy="457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SHAP Values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90242" y="615512"/>
            <a:ext cx="4526280" cy="260136"/>
          </a:xfrm>
          <a:prstGeom prst="roundRect">
            <a:avLst>
              <a:gd name="adj" fmla="val 37500"/>
            </a:avLst>
          </a:prstGeom>
          <a:solidFill>
            <a:srgbClr val="2EC4EF"/>
          </a:solidFill>
          <a:ln w="127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90242" y="563037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Built-in Importance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69319" y="985022"/>
            <a:ext cx="4526280" cy="1608576"/>
          </a:xfrm>
          <a:prstGeom prst="roundRect">
            <a:avLst>
              <a:gd name="adj" fmla="val 5814"/>
            </a:avLst>
          </a:prstGeom>
          <a:solidFill>
            <a:srgbClr val="0A0C1A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69319" y="985022"/>
            <a:ext cx="4526280" cy="54864"/>
          </a:xfrm>
          <a:prstGeom prst="roundRect">
            <a:avLst>
              <a:gd name="adj" fmla="val 166667"/>
            </a:avLst>
          </a:prstGeom>
          <a:solidFill>
            <a:srgbClr val="2EC4EF"/>
          </a:solidFill>
          <a:ln w="127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6479" y="1111031"/>
            <a:ext cx="425196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accent6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importances = rf_model.feature_importances_</a:t>
            </a:r>
            <a:endParaRPr lang="en-US" sz="11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chemeClr val="accent6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importanceDf = pd.DataFrame({</a:t>
            </a:r>
            <a:endParaRPr lang="en-US" sz="11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chemeClr val="accent6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"feature":    X_train.columns,</a:t>
            </a:r>
            <a:endParaRPr lang="en-US" sz="11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chemeClr val="accent6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"importance": importances</a:t>
            </a:r>
            <a:endParaRPr lang="en-US" sz="11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chemeClr val="accent6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}).sort_values("importance", ascending=False)</a:t>
            </a:r>
            <a:endParaRPr lang="en-US" sz="11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 algn="l">
              <a:buNone/>
            </a:pPr>
            <a:endParaRPr lang="en-US" sz="11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chemeClr val="accent6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sns.barplot(data=importanceDf,</a:t>
            </a:r>
            <a:endParaRPr lang="en-US" sz="11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chemeClr val="accent6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x="importance", y="feature")</a:t>
            </a:r>
            <a:endParaRPr lang="en-US" sz="11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190242" y="2757836"/>
            <a:ext cx="4526280" cy="287805"/>
          </a:xfrm>
          <a:prstGeom prst="roundRect">
            <a:avLst>
              <a:gd name="adj" fmla="val 375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0242" y="2770546"/>
            <a:ext cx="4526280" cy="287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SHAP  (model-agnostic, more rigorous)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90242" y="3143589"/>
            <a:ext cx="4526280" cy="1774325"/>
          </a:xfrm>
          <a:prstGeom prst="roundRect">
            <a:avLst>
              <a:gd name="adj" fmla="val 7813"/>
            </a:avLst>
          </a:prstGeom>
          <a:solidFill>
            <a:srgbClr val="0A0C1A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90242" y="3143590"/>
            <a:ext cx="4526280" cy="54864"/>
          </a:xfrm>
          <a:prstGeom prst="roundRect">
            <a:avLst>
              <a:gd name="adj" fmla="val 166667"/>
            </a:avLst>
          </a:prstGeom>
          <a:solidFill>
            <a:srgbClr val="2EC4EF"/>
          </a:solidFill>
          <a:ln w="127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3520" y="3269599"/>
            <a:ext cx="42519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chemeClr val="accent6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shap</a:t>
            </a:r>
            <a:endParaRPr lang="en-US" sz="115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50" dirty="0">
                <a:solidFill>
                  <a:schemeClr val="accent6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explainer  = shap.TreeExplainer(rf_model)</a:t>
            </a:r>
            <a:endParaRPr lang="en-US" sz="115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50" dirty="0">
                <a:solidFill>
                  <a:schemeClr val="accent6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shapValues = explainer.shap_values(X_test)</a:t>
            </a:r>
            <a:endParaRPr lang="en-US" sz="115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 algn="l">
              <a:buNone/>
            </a:pPr>
            <a:endParaRPr lang="en-US" sz="115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50" dirty="0">
                <a:solidFill>
                  <a:schemeClr val="accent6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shap.summary_plot(shapValues[1], X_test)</a:t>
            </a:r>
            <a:endParaRPr lang="en-US" sz="115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50" dirty="0">
                <a:solidFill>
                  <a:schemeClr val="accent6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shap.waterfall_plot(shap.Explanation(</a:t>
            </a:r>
            <a:endParaRPr lang="en-US" sz="115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50" dirty="0">
                <a:solidFill>
                  <a:schemeClr val="accent6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values=shapValues[1][0],</a:t>
            </a:r>
            <a:endParaRPr lang="en-US" sz="115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50" dirty="0">
                <a:solidFill>
                  <a:schemeClr val="accent6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base_values=explainer.expected_value[1],</a:t>
            </a:r>
            <a:endParaRPr lang="en-US" sz="115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50" dirty="0">
                <a:solidFill>
                  <a:schemeClr val="accent6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data=X_test.iloc[0]))</a:t>
            </a:r>
            <a:endParaRPr lang="en-US" sz="115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067712" y="852526"/>
            <a:ext cx="3732767" cy="868680"/>
          </a:xfrm>
          <a:prstGeom prst="roundRect">
            <a:avLst>
              <a:gd name="adj" fmla="val 8421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43464" y="1140485"/>
            <a:ext cx="219456" cy="219456"/>
          </a:xfrm>
          <a:prstGeom prst="ellipse">
            <a:avLst/>
          </a:prstGeom>
          <a:solidFill>
            <a:srgbClr val="2EC4EF"/>
          </a:solidFill>
          <a:ln w="127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581792" y="966594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C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Importance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581792" y="1122197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impurity decrease across trees. Fast but can mislead on correlated features.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67712" y="1830934"/>
            <a:ext cx="3732768" cy="868680"/>
          </a:xfrm>
          <a:prstGeom prst="roundRect">
            <a:avLst>
              <a:gd name="adj" fmla="val 8421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243464" y="2135475"/>
            <a:ext cx="219456" cy="21945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580475" y="1964142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580475" y="2130051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Game-theory based. Shows how much each feature pushed a prediction up or down.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67712" y="2809342"/>
            <a:ext cx="3732768" cy="868680"/>
          </a:xfrm>
          <a:prstGeom prst="roundRect">
            <a:avLst>
              <a:gd name="adj" fmla="val 8421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243464" y="3092806"/>
            <a:ext cx="219456" cy="219456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581792" y="2915117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Plot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581792" y="310195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direction of effect per feature across all samples — not just magnitude.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67712" y="3787750"/>
            <a:ext cx="3732768" cy="868680"/>
          </a:xfrm>
          <a:prstGeom prst="roundRect">
            <a:avLst>
              <a:gd name="adj" fmla="val 8421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242147" y="4047037"/>
            <a:ext cx="219456" cy="219456"/>
          </a:xfrm>
          <a:prstGeom prst="ellipse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580475" y="3897478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Plot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580475" y="4083613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one individual prediction — essential for debugging and stakeholder demos.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731520"/>
            <a:ext cx="164592" cy="3840480"/>
          </a:xfrm>
          <a:prstGeom prst="rect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1920240" cy="402336"/>
          </a:xfrm>
          <a:prstGeom prst="roundRect">
            <a:avLst>
              <a:gd name="adj" fmla="val 34091"/>
            </a:avLst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 04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1480" y="1444752"/>
            <a:ext cx="5943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Communication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11480" y="321868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runs · Reproducibility · The 3-Sentence Rule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040880" y="2834640"/>
            <a:ext cx="1737360" cy="1737360"/>
          </a:xfrm>
          <a:prstGeom prst="ellipse">
            <a:avLst/>
          </a:prstGeom>
          <a:solidFill>
            <a:srgbClr val="12131F"/>
          </a:solidFill>
          <a:ln w="254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818120" y="1325880"/>
            <a:ext cx="1097280" cy="1097280"/>
          </a:xfrm>
          <a:prstGeom prst="ellipse">
            <a:avLst/>
          </a:prstGeom>
          <a:solidFill>
            <a:srgbClr val="12131F"/>
          </a:solidFill>
          <a:ln w="254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684004" y="822960"/>
            <a:ext cx="304851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5">
    <p:bg>
      <p:bgPr>
        <a:solidFill>
          <a:srgbClr val="12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 Tracking Habit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694944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can't reproduce your best result, you don't own it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743200" y="1005840"/>
            <a:ext cx="3657600" cy="0"/>
          </a:xfrm>
          <a:prstGeom prst="line">
            <a:avLst/>
          </a:prstGeom>
          <a:noFill/>
          <a:ln w="254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5166360" cy="2633472"/>
          </a:xfrm>
          <a:prstGeom prst="roundRect">
            <a:avLst>
              <a:gd name="adj" fmla="val 3472"/>
            </a:avLst>
          </a:prstGeom>
          <a:solidFill>
            <a:srgbClr val="0A0C1A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5166360" cy="54864"/>
          </a:xfrm>
          <a:prstGeom prst="roundRect">
            <a:avLst>
              <a:gd name="adj" fmla="val 166667"/>
            </a:avLst>
          </a:prstGeom>
          <a:solidFill>
            <a:srgbClr val="2EC4EF"/>
          </a:solidFill>
          <a:ln w="127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489204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experimentLog = []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logExperiment(modelName, featureList, params,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yTest, yPred, yProb):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experimentLog.append({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"model":         modelName,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"features":      featureList,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"cv_accuracy":   cross_val_score(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model, X_train, y_train, cv=5).mean(),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"test_accuracy": accuracy_score(yTest, yPred),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"roc_auc":       roc_auc_score(yTest, yProb),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"hypothesis":    "Adding FamilySize improves over SibSp+Parch",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experimentDf = pd.DataFrame(experimentLog)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ED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experimentDf.sort_values("roc_auc", ascending=False)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3913632"/>
            <a:ext cx="5166360" cy="896112"/>
          </a:xfrm>
          <a:prstGeom prst="roundRect">
            <a:avLst>
              <a:gd name="adj" fmla="val 10204"/>
            </a:avLst>
          </a:prstGeom>
          <a:solidFill>
            <a:srgbClr val="0C1E2E"/>
          </a:solidFill>
          <a:ln w="1905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84048" y="3977640"/>
            <a:ext cx="1280160" cy="320040"/>
          </a:xfrm>
          <a:prstGeom prst="roundRect">
            <a:avLst>
              <a:gd name="adj" fmla="val 42857"/>
            </a:avLst>
          </a:prstGeom>
          <a:solidFill>
            <a:srgbClr val="2EC4EF"/>
          </a:solidFill>
          <a:ln w="127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" y="3977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84048" y="4315968"/>
            <a:ext cx="4956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3 experiments varying features or model type. Log each one, then sort by ROC-AUC and compare.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23560" y="11704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Habit Matters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23560" y="1627632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788152" y="1773936"/>
            <a:ext cx="201168" cy="201168"/>
          </a:xfrm>
          <a:prstGeom prst="ellipse">
            <a:avLst/>
          </a:prstGeom>
          <a:solidFill>
            <a:srgbClr val="2EC4EF"/>
          </a:solidFill>
          <a:ln w="127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08192" y="1645920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08192" y="1883664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any experiment identically at any time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23560" y="2377440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788152" y="2523744"/>
            <a:ext cx="201168" cy="201168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08192" y="2395728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08192" y="263347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exactly which features and params gave each result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23560" y="3127248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788152" y="3273552"/>
            <a:ext cx="201168" cy="20116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08192" y="3145536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08192" y="338328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log is a scientific record of what worked and why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23560" y="3877056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788152" y="4023360"/>
            <a:ext cx="201168" cy="201168"/>
          </a:xfrm>
          <a:prstGeom prst="ellipse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08192" y="3895344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Professionalism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08192" y="413308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expect this. No log means you can't collaborate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623560" y="4681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at scale: MLflow · Weights &amp; Biases · Neptune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3822" y="90274"/>
            <a:ext cx="8412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Communicating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3822" y="429233"/>
            <a:ext cx="8412480" cy="247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is not the deliverable. The decision it enables is.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912103" y="706250"/>
            <a:ext cx="5319794" cy="9143"/>
          </a:xfrm>
          <a:prstGeom prst="line">
            <a:avLst/>
          </a:prstGeom>
          <a:noFill/>
          <a:ln w="254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40126"/>
            <a:ext cx="5029200" cy="2633472"/>
          </a:xfrm>
          <a:prstGeom prst="roundRect">
            <a:avLst>
              <a:gd name="adj" fmla="val 4167"/>
            </a:avLst>
          </a:prstGeom>
          <a:solidFill>
            <a:srgbClr val="0C1E2E"/>
          </a:solidFill>
          <a:ln w="1905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79339"/>
            <a:ext cx="4685912" cy="254867"/>
          </a:xfrm>
          <a:prstGeom prst="roundRect">
            <a:avLst>
              <a:gd name="adj" fmla="val 35714"/>
            </a:avLst>
          </a:prstGeom>
          <a:solidFill>
            <a:srgbClr val="2EC4EF"/>
          </a:solidFill>
          <a:ln w="127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411480" y="1149854"/>
            <a:ext cx="17582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3-Sentence Rule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3952" y="1573419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can the model do?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84286" y="1820307"/>
            <a:ext cx="44092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model predicts passenger survival with 81% accuracy and 0.86 AUC."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3952" y="2195211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How confident are we?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1185" y="2440855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"Validated across 5 folds, it beats the naive baseline by 20 points."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3952" y="2817003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is the next step?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3584" y="3099223"/>
            <a:ext cx="43999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recommend deploying with Sex + Pclass as primary signals and monitoring for drift."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09648" y="1052211"/>
            <a:ext cx="3291840" cy="466344"/>
          </a:xfrm>
          <a:prstGeom prst="roundRect">
            <a:avLst>
              <a:gd name="adj" fmla="val 15686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591944" y="1107075"/>
            <a:ext cx="914400" cy="347472"/>
          </a:xfrm>
          <a:prstGeom prst="roundRect">
            <a:avLst>
              <a:gd name="adj" fmla="val 39474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01088" y="1116219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06928" y="1107075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predicts and how well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509648" y="1582563"/>
            <a:ext cx="3291840" cy="466344"/>
          </a:xfrm>
          <a:prstGeom prst="roundRect">
            <a:avLst>
              <a:gd name="adj" fmla="val 15686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591944" y="1637427"/>
            <a:ext cx="914400" cy="347472"/>
          </a:xfrm>
          <a:prstGeom prst="roundRect">
            <a:avLst>
              <a:gd name="adj" fmla="val 39474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5601088" y="1646571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06928" y="1637427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features matter most — use SHAP plots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509648" y="2112915"/>
            <a:ext cx="3291840" cy="466344"/>
          </a:xfrm>
          <a:prstGeom prst="roundRect">
            <a:avLst>
              <a:gd name="adj" fmla="val 15686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591944" y="2167779"/>
            <a:ext cx="914400" cy="347472"/>
          </a:xfrm>
          <a:prstGeom prst="roundRect">
            <a:avLst>
              <a:gd name="adj" fmla="val 39474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01088" y="2176923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them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06928" y="2167779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cannot do yet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509648" y="2643267"/>
            <a:ext cx="3291840" cy="466344"/>
          </a:xfrm>
          <a:prstGeom prst="roundRect">
            <a:avLst>
              <a:gd name="adj" fmla="val 15686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591944" y="2698131"/>
            <a:ext cx="914400" cy="347472"/>
          </a:xfrm>
          <a:prstGeom prst="roundRect">
            <a:avLst>
              <a:gd name="adj" fmla="val 39474"/>
            </a:avLst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601088" y="2707275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606928" y="2698131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raw confusion matrices without context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509648" y="3173619"/>
            <a:ext cx="3291840" cy="466344"/>
          </a:xfrm>
          <a:prstGeom prst="roundRect">
            <a:avLst>
              <a:gd name="adj" fmla="val 15686"/>
            </a:avLst>
          </a:prstGeom>
          <a:solidFill>
            <a:srgbClr val="1E2038"/>
          </a:solidFill>
          <a:ln w="12700">
            <a:solidFill>
              <a:srgbClr val="2A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591944" y="3228483"/>
            <a:ext cx="914400" cy="347472"/>
          </a:xfrm>
          <a:prstGeom prst="roundRect">
            <a:avLst>
              <a:gd name="adj" fmla="val 39474"/>
            </a:avLst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601088" y="3237627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606928" y="3228483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Claiming 81% is good without naming the baseline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4010416"/>
            <a:ext cx="8527168" cy="789793"/>
          </a:xfrm>
          <a:prstGeom prst="roundRect">
            <a:avLst>
              <a:gd name="adj" fmla="val 10526"/>
            </a:avLst>
          </a:prstGeom>
          <a:solidFill>
            <a:srgbClr val="1A1430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11480" y="4182990"/>
            <a:ext cx="1188720" cy="347472"/>
          </a:xfrm>
          <a:prstGeom prst="roundRect">
            <a:avLst>
              <a:gd name="adj" fmla="val 39474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11480" y="418299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781142" y="4111313"/>
            <a:ext cx="6995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3-sentence executive summary of your Titanic model. Present to a neighbor — can they understand it without knowing any ML?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3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A3500-C2BF-93B1-912A-C0667993D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1B57DFE-187A-662F-4B1D-B4135E7B6479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C4EF"/>
          </a:solidFill>
          <a:ln w="12700">
            <a:solidFill>
              <a:srgbClr val="2EC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C075D01-DBCA-7082-66EC-CFF630A647A3}"/>
              </a:ext>
            </a:extLst>
          </p:cNvPr>
          <p:cNvSpPr/>
          <p:nvPr/>
        </p:nvSpPr>
        <p:spPr>
          <a:xfrm>
            <a:off x="2743200" y="2542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1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  |  Evaluation &amp; Iteration</a:t>
            </a:r>
            <a:endParaRPr lang="en-US" sz="12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16B6887-6B9F-FD8B-FEF6-9A2DE8F36BD2}"/>
              </a:ext>
            </a:extLst>
          </p:cNvPr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C1E2E"/>
          </a:solidFill>
          <a:ln w="12700">
            <a:solidFill>
              <a:srgbClr val="0C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00D9F6-8A0C-F43E-167F-DC6135C5DF68}"/>
              </a:ext>
            </a:extLst>
          </p:cNvPr>
          <p:cNvSpPr txBox="1"/>
          <p:nvPr/>
        </p:nvSpPr>
        <p:spPr>
          <a:xfrm>
            <a:off x="2323785" y="224349"/>
            <a:ext cx="457200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000" b="1">
                <a:solidFill>
                  <a:srgbClr val="EEF0FF"/>
                </a:solidFill>
                <a:latin typeface="Times New Roman"/>
              </a:rPr>
              <a:t>Feedback Survey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3" name="Picture 2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1A45BE90-F5CD-1951-08E2-848F76A97E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2618" y="938685"/>
            <a:ext cx="3658763" cy="365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85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2ddbec2-0c56-4692-8112-7f137903115a" xsi:nil="true"/>
    <lcf76f155ced4ddcb4097134ff3c332f xmlns="190c1648-b1d3-41dd-9752-7b8b6cd6cd6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94D52E0DA1BEC4E99F2EF7383873057" ma:contentTypeVersion="17" ma:contentTypeDescription="Create a new document." ma:contentTypeScope="" ma:versionID="9863c32868341bb11426e9fe5ed0d4ad">
  <xsd:schema xmlns:xsd="http://www.w3.org/2001/XMLSchema" xmlns:xs="http://www.w3.org/2001/XMLSchema" xmlns:p="http://schemas.microsoft.com/office/2006/metadata/properties" xmlns:ns2="190c1648-b1d3-41dd-9752-7b8b6cd6cd68" xmlns:ns3="62ddbec2-0c56-4692-8112-7f137903115a" targetNamespace="http://schemas.microsoft.com/office/2006/metadata/properties" ma:root="true" ma:fieldsID="0e448373b816667779968cf8168fc742" ns2:_="" ns3:_="">
    <xsd:import namespace="190c1648-b1d3-41dd-9752-7b8b6cd6cd68"/>
    <xsd:import namespace="62ddbec2-0c56-4692-8112-7f13790311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0c1648-b1d3-41dd-9752-7b8b6cd6cd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91af29b-e898-46cd-ad54-75745d14b33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ddbec2-0c56-4692-8112-7f137903115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2458c20-7497-47ea-ba85-2b252405ce57}" ma:internalName="TaxCatchAll" ma:showField="CatchAllData" ma:web="62ddbec2-0c56-4692-8112-7f13790311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CE35A95-943F-400E-8BFE-F2DABC39259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ED76734-BCAB-4EF7-B20F-25FA5EA033DD}">
  <ds:schemaRefs>
    <ds:schemaRef ds:uri="http://schemas.microsoft.com/office/2006/metadata/properties"/>
    <ds:schemaRef ds:uri="http://schemas.microsoft.com/office/infopath/2007/PartnerControls"/>
    <ds:schemaRef ds:uri="62ddbec2-0c56-4692-8112-7f137903115a"/>
    <ds:schemaRef ds:uri="190c1648-b1d3-41dd-9752-7b8b6cd6cd68"/>
  </ds:schemaRefs>
</ds:datastoreItem>
</file>

<file path=customXml/itemProps3.xml><?xml version="1.0" encoding="utf-8"?>
<ds:datastoreItem xmlns:ds="http://schemas.openxmlformats.org/officeDocument/2006/customXml" ds:itemID="{B3FC48B9-3C81-4868-BFC6-BBFC763CC6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90c1648-b1d3-41dd-9752-7b8b6cd6cd68"/>
    <ds:schemaRef ds:uri="62ddbec2-0c56-4692-8112-7f137903115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2117</Words>
  <Application>Microsoft Office PowerPoint</Application>
  <PresentationFormat>On-screen Show (16:9)</PresentationFormat>
  <Paragraphs>391</Paragraphs>
  <Slides>18</Slides>
  <Notes>18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DS &amp; AI – Lesson 4</dc:title>
  <dc:subject>PptxGenJS Presentation</dc:subject>
  <dc:creator>PptxGenJS</dc:creator>
  <cp:lastModifiedBy>Gabriela Saldana</cp:lastModifiedBy>
  <cp:revision>30</cp:revision>
  <dcterms:created xsi:type="dcterms:W3CDTF">2026-03-24T12:43:20Z</dcterms:created>
  <dcterms:modified xsi:type="dcterms:W3CDTF">2026-04-02T23:56:03Z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0x010100C94D52E0DA1BEC4E99F2EF7383873057</vt:lpwstr>
  </property>
  <property fmtid="{D5CDD505-2E9C-101B-9397-08002B2CF9AE}" pid="3" name="MediaServiceImageTags">
    <vt:lpwstr/>
  </property>
</Properties>
</file>