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4" r:id="rId21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0E577-0907-D4ED-BD71-163F60E8FB9A}" v="1" dt="2026-04-02T23:18:34.461"/>
    <p1510:client id="{EF43AAE0-9F7A-EAC5-33AE-4387C5EB6330}" v="89" dt="2026-04-02T19:25:13.698"/>
    <p1510:client id="{F8E07CF0-D3D8-044F-971C-684495D7C077}" v="68" dt="2026-04-02T20:22:30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1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4193-5C40-1B27-B8FB-49ECC92A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9DED3-AC50-A246-F51E-E86CB170C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B37B2-9753-50D9-9186-330494204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454D-7027-04CA-4194-A6C0957BE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00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23792" y="1210699"/>
            <a:ext cx="8046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8FAFC"/>
                </a:solidFill>
                <a:latin typeface="+mj-lt"/>
                <a:ea typeface="Calibri" pitchFamily="34" charset="-122"/>
                <a:cs typeface="Times New Roman" panose="02020603050405020304" pitchFamily="18" charset="0"/>
              </a:rPr>
              <a:t>Raw Text Formats</a:t>
            </a:r>
          </a:p>
          <a:p>
            <a:r>
              <a:rPr lang="en-US" sz="4800" b="1">
                <a:solidFill>
                  <a:srgbClr val="F8FAFC"/>
                </a:solidFill>
                <a:latin typeface="+mj-lt"/>
                <a:ea typeface="Calibri"/>
                <a:cs typeface="Times New Roman"/>
              </a:rPr>
              <a:t>&amp;</a:t>
            </a:r>
          </a:p>
          <a:p>
            <a:r>
              <a:rPr lang="en-US" sz="4800" b="1">
                <a:solidFill>
                  <a:srgbClr val="F8FAFC"/>
                </a:solidFill>
                <a:latin typeface="+mj-lt"/>
                <a:ea typeface="Calibri"/>
                <a:cs typeface="Times New Roman"/>
              </a:rPr>
              <a:t>Containerization</a:t>
            </a:r>
            <a:endParaRPr lang="en-US" sz="4800" b="1">
              <a:solidFill>
                <a:srgbClr val="F8FAFC"/>
              </a:solidFill>
              <a:latin typeface="+mj-lt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3792" y="3202241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kern="0" spc="3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JSON · YAML · Markdown· Docker</a:t>
            </a:r>
          </a:p>
          <a:p>
            <a:pPr marL="0" indent="0">
              <a:buNone/>
            </a:pPr>
            <a:endParaRPr lang="en-US" sz="2600" kern="0" spc="300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Upskilling Workshop | Advanced AI &amp; DS | Agentic Workshop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6641" y="962856"/>
            <a:ext cx="23664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5400"/>
          </a:p>
        </p:txBody>
      </p:sp>
      <p:sp>
        <p:nvSpPr>
          <p:cNvPr id="4" name="Text 2"/>
          <p:cNvSpPr/>
          <p:nvPr/>
        </p:nvSpPr>
        <p:spPr>
          <a:xfrm>
            <a:off x="1056641" y="184023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9144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JSON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JSON?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329184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64008" cy="3291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4804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JSON is a way to write down information so both people &amp; computers can read it easily</a:t>
            </a:r>
          </a:p>
          <a:p>
            <a:pPr>
              <a:buSzPct val="100000"/>
            </a:pPr>
            <a:endParaRPr lang="en-US" sz="1300">
              <a:solidFill>
                <a:srgbClr val="F8FA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Think of it like a labeled box; every piece of data has a name and a value, like a form you fill out</a:t>
            </a:r>
          </a:p>
          <a:p>
            <a:pPr>
              <a:buSzPct val="100000"/>
            </a:pPr>
            <a:endParaRPr lang="en-US" sz="1300">
              <a:solidFill>
                <a:srgbClr val="F8FAFC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Started in JS but now every programming language understand it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Boolean, null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 [ ... ]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{ key: value }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206588" y="11919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102352" y="1615518"/>
            <a:ext cx="3281289" cy="2907792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66944" y="1725246"/>
            <a:ext cx="3877056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"Alice",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30,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"scores": [98, 87, 95],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{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"city": "Miami",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"zip": "33101"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json.org   ·   RFC 8259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9144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JSON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34206" y="5584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Syntax Features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34206" y="997404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below are shown via $ref — a JSON convention for cross-referencing sections within a document.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378039"/>
            <a:ext cx="8321040" cy="3528811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441145"/>
            <a:ext cx="7991856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Heading (top-level key acts as a section heading) 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"document": {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Emphasis (value types signal importance) 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  "CRITICAL",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"priority": 1,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"locked":   true,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List ───────────────────────────────────────────────────────────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"tags": ["json", "data", "api", "rest"],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Code Block (string value holds a code snippet) 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"example": "fetch('https://api.example.com/data')",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Link (URI stored as a string value) ────────────────────────────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"specLink": "https://www.rfc-editor.org/rfc/rfc8259",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"$ref": "#/document/tags"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0612" y="1050916"/>
            <a:ext cx="22460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5400"/>
          </a:p>
        </p:txBody>
      </p:sp>
      <p:sp>
        <p:nvSpPr>
          <p:cNvPr id="4" name="Text 2"/>
          <p:cNvSpPr/>
          <p:nvPr/>
        </p:nvSpPr>
        <p:spPr>
          <a:xfrm>
            <a:off x="870612" y="184023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Ain't Markup Language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96012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YAML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61871"/>
            <a:ext cx="3931920" cy="3458235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5719" cy="345823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0978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like JSON but written the way a human would naturally jot things down</a:t>
            </a:r>
          </a:p>
          <a:p>
            <a:pPr>
              <a:buSzPct val="100000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         - No curly braces, no quotes everywhere</a:t>
            </a:r>
          </a:p>
          <a:p>
            <a:pPr>
              <a:buSzPct val="100000"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an outline or a to-do list: indentation tells you what belongs to what, the same way bullet levels do in a notebook</a:t>
            </a:r>
          </a:p>
          <a:p>
            <a:pPr marL="342900" indent="-342900">
              <a:buSzPct val="100000"/>
              <a:buChar char="•"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settings and config files (Docker, K8s, CI)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with #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multiple documents in one file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Reuse repeated values with aliases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268145" y="1019556"/>
            <a:ext cx="9536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550149" y="1417320"/>
            <a:ext cx="2389675" cy="2907792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4741" y="1527048"/>
            <a:ext cx="2122052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Alice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30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active: true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- 98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- 87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- 95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Miami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zip: "33101"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yaml.org   ·   YAML 1.2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960120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YAML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27767" y="5486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— Syntax Features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27767" y="9326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(2 spaces) defines structure. Comments begin with #.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307591"/>
            <a:ext cx="8321040" cy="3715169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435608"/>
            <a:ext cx="7991856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Heading (mapping key at root level) ───────────────────────────────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Emphasis (YAML has no bold/italic; caps &amp; exclamation signal urgency)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  CRITICAL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locked:   true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List (block sequence) ─────────────────────────────────────────────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yaml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config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devops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Code Block (literal block scalar with |) 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example: |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fetch('https://api.example.com/data')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Link (plain string value) ─────────────────────────────────────────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specLink: https://yaml.org/spec/1.2-old/spec.html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540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markup language for formatted text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Markdown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Markdown?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329184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a way to dress up plain text: </a:t>
            </a:r>
            <a:r>
              <a:rPr lang="en-US" sz="1300">
                <a:solidFill>
                  <a:srgbClr val="F8FAFC"/>
                </a:solidFill>
                <a:latin typeface="Calibri" pitchFamily="34" charset="0"/>
                <a:cs typeface="Calibri" pitchFamily="34" charset="-120"/>
              </a:rPr>
              <a:t>Write in a simple. Readable style and it automatically turns into a formatted doc.</a:t>
            </a:r>
          </a:p>
          <a:p>
            <a:pPr>
              <a:buSzPct val="100000"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that renders as HTML</a:t>
            </a:r>
          </a:p>
          <a:p>
            <a:pPr>
              <a:buSzPct val="100000"/>
            </a:pP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GitHub READMEs, docs, blogs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 Elements</a:t>
            </a:r>
            <a:endParaRPr lang="en-US" sz="130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Headings (H1–H6)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**bold** and *italic* emphasis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code spans, fenced blocks, links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289269" y="1250184"/>
            <a:ext cx="97943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094336" y="1599042"/>
            <a:ext cx="3340368" cy="2886090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1785" y="1687068"/>
            <a:ext cx="3139483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**Status:** active  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*Priority:* high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Scores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- 98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- 87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- 95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[Spec](https://commonmark.org)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commonmark.org   ·   GFM (GitHub Flavored Markdown)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88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Markdown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02010" y="55424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— Syntax Features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02010" y="939707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the only format here with native support for all five features.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287179"/>
            <a:ext cx="8321040" cy="3748267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2393" y="1404634"/>
            <a:ext cx="8059213" cy="3434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Heading 1  (H1 — largest heading)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Heading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Heading 3  (up to H6 supported)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**Emphasis — bold text** and *italic text* and ***bold-italic***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List — Unordered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Item one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Item two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Nested sub-item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Block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```python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requests.get("https://api.example.com/data")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Link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[CommonMark Spec](https://commonmark.org)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[GitHub Flavored Markdown](https://github.github.com/gfm/)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Summary</a:t>
            </a:r>
            <a:endParaRPr lang="en-US" sz="30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73252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keys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mapping keys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H1  ## H2 …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types / CAPS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/ !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**bold** *italic*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array syntax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block sequence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unordered  1. ordered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Blocks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value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 literal block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```lang … ```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 string value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 string value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[text](url)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hash comment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&lt;!-- HTML comments --&gt;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Use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 &amp; data exchange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files &amp; CI/CD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Docs, READMEs, blogs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8FAFC"/>
                </a:solidFill>
                <a:latin typeface="+mj-lt"/>
                <a:ea typeface="Calibri" pitchFamily="34" charset="-122"/>
                <a:cs typeface="Calibri" pitchFamily="34" charset="-120"/>
              </a:rPr>
              <a:t>Containers</a:t>
            </a:r>
            <a:endParaRPr lang="en-US" sz="5200">
              <a:latin typeface="+mj-lt"/>
            </a:endParaRPr>
          </a:p>
          <a:p>
            <a:pPr marL="0" indent="0">
              <a:buNone/>
            </a:pPr>
            <a:r>
              <a:rPr lang="en-US" sz="5200" b="1">
                <a:solidFill>
                  <a:srgbClr val="F8FAFC"/>
                </a:solidFill>
                <a:latin typeface="+mj-lt"/>
                <a:ea typeface="Calibri" pitchFamily="34" charset="-122"/>
                <a:cs typeface="Calibri" pitchFamily="34" charset="-120"/>
              </a:rPr>
              <a:t>&amp; Docker</a:t>
            </a:r>
            <a:endParaRPr lang="en-US" sz="520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course — from concept to running your first container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8FAFC"/>
                </a:solidFill>
              </a:rPr>
              <a:t>Containers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3931920" cy="340156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64008" cy="340156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365760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/>
          </a:p>
          <a:p>
            <a:pPr marL="0" indent="0">
              <a:buNone/>
            </a:pPr>
            <a:r>
              <a:rPr lang="en-US" sz="5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is a lightweight, standalone, executable package that includes everything needed to run a piece of software.</a:t>
            </a:r>
            <a:endParaRPr lang="en-US" sz="125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bundles</a:t>
            </a:r>
            <a:endParaRPr lang="en-US" sz="1250"/>
          </a:p>
          <a:p>
            <a:pPr marL="0" indent="0">
              <a:buNone/>
            </a:pPr>
            <a:r>
              <a:rPr lang="en-US" sz="5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(e.g. Python, Node, JVM)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dependencies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250"/>
          </a:p>
          <a:p>
            <a:pPr marL="0" indent="0">
              <a:buNone/>
            </a:pPr>
            <a:r>
              <a:rPr lang="en-US" sz="6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0" indent="0">
              <a:buNone/>
            </a:pPr>
            <a:r>
              <a:rPr lang="en-US" sz="125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VMs</a:t>
            </a:r>
            <a:endParaRPr lang="en-US" sz="1250"/>
          </a:p>
          <a:p>
            <a:pPr marL="0" indent="0">
              <a:buNone/>
            </a:pPr>
            <a:r>
              <a:rPr lang="en-US" sz="5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virtualise hardware — each has a full OS</a:t>
            </a:r>
            <a:endParaRPr lang="en-US" sz="1250"/>
          </a:p>
          <a:p>
            <a:pPr marL="342900" indent="-342900">
              <a:buSzPct val="100000"/>
              <a:buChar char="•"/>
            </a:pPr>
            <a:r>
              <a:rPr lang="en-US" sz="12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OS kernel — much lighter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5915242" y="1232935"/>
            <a:ext cx="1435551" cy="3185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VM vs Container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26280" y="1664208"/>
            <a:ext cx="1828800" cy="2999232"/>
          </a:xfrm>
          <a:prstGeom prst="rect">
            <a:avLst/>
          </a:prstGeom>
          <a:solidFill>
            <a:srgbClr val="16223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94A3B8"/>
                </a:solidFill>
              </a:rPr>
              <a:t>Virtual Machine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617720" y="1993392"/>
            <a:ext cx="1645920" cy="301752"/>
          </a:xfrm>
          <a:prstGeom prst="rect">
            <a:avLst/>
          </a:prstGeom>
          <a:solidFill>
            <a:srgbClr val="162F4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9933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App A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617720" y="2340864"/>
            <a:ext cx="1645920" cy="301752"/>
          </a:xfrm>
          <a:prstGeom prst="rect">
            <a:avLst/>
          </a:prstGeom>
          <a:solidFill>
            <a:srgbClr val="1A3A55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23408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Guest OS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17720" y="2688336"/>
            <a:ext cx="1645920" cy="301752"/>
          </a:xfrm>
          <a:prstGeom prst="rect">
            <a:avLst/>
          </a:prstGeom>
          <a:solidFill>
            <a:srgbClr val="162F4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268833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App B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17720" y="3035808"/>
            <a:ext cx="1645920" cy="301752"/>
          </a:xfrm>
          <a:prstGeom prst="rect">
            <a:avLst/>
          </a:prstGeom>
          <a:solidFill>
            <a:srgbClr val="1A3A55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30358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Guest OS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617720" y="3383280"/>
            <a:ext cx="1645920" cy="301752"/>
          </a:xfrm>
          <a:prstGeom prst="rect">
            <a:avLst/>
          </a:prstGeom>
          <a:solidFill>
            <a:srgbClr val="254060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33832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Hypervisor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617720" y="3730752"/>
            <a:ext cx="1645920" cy="301752"/>
          </a:xfrm>
          <a:prstGeom prst="rect">
            <a:avLst/>
          </a:prstGeom>
          <a:solidFill>
            <a:srgbClr val="1C2F42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37307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Host OS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17720" y="4078224"/>
            <a:ext cx="1645920" cy="301752"/>
          </a:xfrm>
          <a:prstGeom prst="rect">
            <a:avLst/>
          </a:prstGeom>
          <a:solidFill>
            <a:srgbClr val="1222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407822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Hardware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6629400" y="1664208"/>
            <a:ext cx="2103120" cy="2999232"/>
          </a:xfrm>
          <a:prstGeom prst="rect">
            <a:avLst/>
          </a:prstGeom>
          <a:solidFill>
            <a:srgbClr val="162233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1682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496ED"/>
                </a:solidFill>
              </a:rPr>
              <a:t>Containers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720840" y="1993392"/>
            <a:ext cx="1920240" cy="347472"/>
          </a:xfrm>
          <a:prstGeom prst="rect">
            <a:avLst/>
          </a:prstGeom>
          <a:solidFill>
            <a:srgbClr val="162F4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084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App A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720840" y="2386584"/>
            <a:ext cx="1920240" cy="347472"/>
          </a:xfrm>
          <a:prstGeom prst="rect">
            <a:avLst/>
          </a:prstGeom>
          <a:solidFill>
            <a:srgbClr val="162F4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20840" y="2386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App B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720840" y="2779776"/>
            <a:ext cx="1920240" cy="347472"/>
          </a:xfrm>
          <a:prstGeom prst="rect">
            <a:avLst/>
          </a:prstGeom>
          <a:solidFill>
            <a:srgbClr val="162F4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App C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6720840" y="3172968"/>
            <a:ext cx="1920240" cy="347472"/>
          </a:xfrm>
          <a:prstGeom prst="rect">
            <a:avLst/>
          </a:prstGeom>
          <a:solidFill>
            <a:srgbClr val="0D3A6E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3172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Container Runtime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720840" y="3566160"/>
            <a:ext cx="1920240" cy="347472"/>
          </a:xfrm>
          <a:prstGeom prst="rect">
            <a:avLst/>
          </a:prstGeom>
          <a:solidFill>
            <a:srgbClr val="1C2F42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Host OS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720840" y="3959352"/>
            <a:ext cx="1920240" cy="347472"/>
          </a:xfrm>
          <a:prstGeom prst="rect">
            <a:avLst/>
          </a:prstGeom>
          <a:solidFill>
            <a:srgbClr val="122236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20840" y="3959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8FAFC"/>
                </a:solidFill>
              </a:rPr>
              <a:t>Hardware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8FAFC"/>
                </a:solidFill>
              </a:rPr>
              <a:t>Containers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Core Concepts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11480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64008" cy="16002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784" y="1353312"/>
            <a:ext cx="387705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/>
          </a:p>
          <a:p>
            <a:pPr marL="0" indent="0">
              <a:buNone/>
            </a:pPr>
            <a:r>
              <a:rPr lang="en-US" sz="4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template used to create containers. Built from a Dockerfile. Think of it as a blueprint or a class — containers are instances of an image.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57784" y="2478024"/>
            <a:ext cx="3877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python:3.12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709160" y="1261872"/>
            <a:ext cx="4114800" cy="160020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64008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55464" y="1353312"/>
            <a:ext cx="387705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/>
          </a:p>
          <a:p>
            <a:pPr marL="0" indent="0">
              <a:buNone/>
            </a:pPr>
            <a:r>
              <a:rPr lang="en-US" sz="4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Isolated from the host and other containers. Starts in milliseconds. Can be stopped, restarted, or removed.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855464" y="2478024"/>
            <a:ext cx="3877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python:3.12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47650" y="3017520"/>
            <a:ext cx="4129269" cy="1723181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35072" cy="1723181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" y="3108960"/>
            <a:ext cx="3877056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200"/>
          </a:p>
          <a:p>
            <a:pPr marL="0" indent="0">
              <a:buNone/>
            </a:pPr>
            <a:r>
              <a:rPr lang="en-US" sz="4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script of instructions that Docker reads to build an image. Each instruction (FROM, RUN, COPY, CMD) creates a layer in the image.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57784" y="4233672"/>
            <a:ext cx="3877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["python","app.py"]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745330" y="3017520"/>
            <a:ext cx="4078630" cy="1723181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80224" y="3017520"/>
            <a:ext cx="64008" cy="1723181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55464" y="3108960"/>
            <a:ext cx="3877056" cy="11247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/>
          </a:p>
          <a:p>
            <a:pPr marL="0" indent="0">
              <a:buNone/>
            </a:pPr>
            <a:r>
              <a:rPr lang="en-US" sz="4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 storage and distribution hub for images. Docker Hub is the public default. Organizations use private registries (AWS ECR, GitHub Container Registry).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55464" y="4233672"/>
            <a:ext cx="3877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myrepo/myapp:1.0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8FAFC"/>
                </a:solidFill>
              </a:rPr>
              <a:t>Containers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Docker — Windows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384048"/>
          </a:xfrm>
          <a:prstGeom prst="rect">
            <a:avLst/>
          </a:prstGeom>
          <a:solidFill>
            <a:srgbClr val="0D2A1A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 —  Windows 10/11 (64-bit, Build 19041+)  |  WSL 2 enabled  |  Virtualization enabled in BIOS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1485" y="1919097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1485" y="191909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1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1485" y="2354580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1485" y="23545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753237" y="1920240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Docker Desktop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docs.docker.com/desktop/install/windows-install/ and download the installer (Docker Desktop Installer.exe).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51485" y="2852928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1485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753237" y="2355723"/>
            <a:ext cx="7927848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/>
                <a:ea typeface="Calibri"/>
                <a:cs typeface="Calibri"/>
              </a:rPr>
              <a:t>Run the Installer  </a:t>
            </a:r>
            <a:r>
              <a:rPr lang="en-US" sz="12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Double-click the .exe. Click OK and wait for installation to finish.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2915" y="3276981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915" y="32769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4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53237" y="2848356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Docker Desktop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the Start menu. Wait for the whale icon in the system tray to stop animating — Docker is ready.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53237" y="3278124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PowerShell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terminal and confirm the install: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73202" y="3675888"/>
            <a:ext cx="7927848" cy="566928"/>
          </a:xfrm>
          <a:prstGeom prst="rect">
            <a:avLst/>
          </a:prstGeom>
          <a:solidFill>
            <a:srgbClr val="0A1120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218" y="373075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8FAFC"/>
                </a:solidFill>
              </a:rPr>
              <a:t>Containers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Docker — macOS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384048"/>
          </a:xfrm>
          <a:prstGeom prst="rect">
            <a:avLst/>
          </a:prstGeom>
          <a:solidFill>
            <a:srgbClr val="0D2A1A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 —  macOS 13 Ventura or later  |  Apple Silicon (M1/M2/M3) or Intel  |  4 GB RAM minimum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04672" y="1719072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Docker Desktop (GUI)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docs.docker.com/desktop/install/mac-install/. Choose Apple Silicon or Intel. Open the .dmg, drag Docker to Applications, and launch it.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804672" y="2103120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Homebrew (CLI)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Homebrew installed, run: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804672" y="2432304"/>
            <a:ext cx="7927848" cy="365760"/>
          </a:xfrm>
          <a:prstGeom prst="rect">
            <a:avLst/>
          </a:prstGeom>
          <a:solidFill>
            <a:srgbClr val="0A1120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2487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--cask docker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804672" y="2944368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permissions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launch, macOS will ask for your password to install the Docker networking extension. Allow it.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11480" y="3328416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4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804672" y="3328416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Docker Desktop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Docker from Applications. The menu-bar whale icon will animate while starting — wait until it's static.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11480" y="3712464"/>
            <a:ext cx="292608" cy="292608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8FAFC"/>
                </a:solidFill>
              </a:rPr>
              <a:t>5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804672" y="3712464"/>
            <a:ext cx="7927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Terminal  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(or iTerm) and confirm: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804672" y="4041648"/>
            <a:ext cx="7927848" cy="566928"/>
          </a:xfrm>
          <a:prstGeom prst="rect">
            <a:avLst/>
          </a:prstGeom>
          <a:solidFill>
            <a:srgbClr val="0A1120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" y="409651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9ED2D-9881-4749-0C4A-67B355BA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CA6AE4-CED6-D532-C965-C71F95597337}"/>
              </a:ext>
            </a:extLst>
          </p:cNvPr>
          <p:cNvSpPr txBox="1"/>
          <p:nvPr/>
        </p:nvSpPr>
        <p:spPr>
          <a:xfrm>
            <a:off x="2289209" y="182208"/>
            <a:ext cx="477040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rgbClr val="F8FAFC"/>
                </a:solidFill>
                <a:latin typeface="Calibri Light"/>
              </a:rPr>
              <a:t>Feedback Survey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" name="Picture 1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CCE23377-D8FE-4174-B175-FD358146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82" y="1149028"/>
            <a:ext cx="3344601" cy="334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7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8FAFC"/>
                </a:solidFill>
              </a:rPr>
              <a:t>Containers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302967" y="549855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Your First Container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302967" y="968280"/>
            <a:ext cx="8321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Containerize a simple Python web server in four steps.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2967" y="123276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+  Dockerfile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11480" y="1529190"/>
            <a:ext cx="4143736" cy="3317535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8838" y="1667854"/>
            <a:ext cx="3785616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http.server import HTTPServer, BaseHTTPRequestHandler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Handler(BaseHTTPRequestHandler):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do_GET(self):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self.send_response(200)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self.end_headers()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self.wfile.write(b"Hello from Docker!")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HTTPServer(("", 8080), Handler).serve_forever()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54927" y="123276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commands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656206" y="1529190"/>
            <a:ext cx="4069080" cy="3317535"/>
          </a:xfrm>
          <a:prstGeom prst="rect">
            <a:avLst/>
          </a:prstGeom>
          <a:solidFill>
            <a:srgbClr val="0A1120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0798" y="1667854"/>
            <a:ext cx="3739896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Build the image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my-server 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Run the container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-p maps host:container port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-d runs it in the background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my-server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Test it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Hello from Docker!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Stop and clean up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                # list running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&lt;container-id&gt;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  &lt;container-id&gt;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4D52E0DA1BEC4E99F2EF7383873057" ma:contentTypeVersion="17" ma:contentTypeDescription="Create a new document." ma:contentTypeScope="" ma:versionID="9863c32868341bb11426e9fe5ed0d4ad">
  <xsd:schema xmlns:xsd="http://www.w3.org/2001/XMLSchema" xmlns:xs="http://www.w3.org/2001/XMLSchema" xmlns:p="http://schemas.microsoft.com/office/2006/metadata/properties" xmlns:ns2="190c1648-b1d3-41dd-9752-7b8b6cd6cd68" xmlns:ns3="62ddbec2-0c56-4692-8112-7f137903115a" targetNamespace="http://schemas.microsoft.com/office/2006/metadata/properties" ma:root="true" ma:fieldsID="0e448373b816667779968cf8168fc742" ns2:_="" ns3:_="">
    <xsd:import namespace="190c1648-b1d3-41dd-9752-7b8b6cd6cd68"/>
    <xsd:import namespace="62ddbec2-0c56-4692-8112-7f13790311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c1648-b1d3-41dd-9752-7b8b6cd6c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91af29b-e898-46cd-ad54-75745d14b3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dbec2-0c56-4692-8112-7f13790311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2458c20-7497-47ea-ba85-2b252405ce57}" ma:internalName="TaxCatchAll" ma:showField="CatchAllData" ma:web="62ddbec2-0c56-4692-8112-7f13790311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ddbec2-0c56-4692-8112-7f137903115a" xsi:nil="true"/>
    <lcf76f155ced4ddcb4097134ff3c332f xmlns="190c1648-b1d3-41dd-9752-7b8b6cd6cd6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F030D10-29DD-465B-AA0B-C0BAE45DE0E2}">
  <ds:schemaRefs>
    <ds:schemaRef ds:uri="190c1648-b1d3-41dd-9752-7b8b6cd6cd68"/>
    <ds:schemaRef ds:uri="62ddbec2-0c56-4692-8112-7f13790311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F51A7B-3EA9-4784-8E82-5159D4C426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169A9-2C63-4270-AF68-852EDAB77E52}">
  <ds:schemaRefs>
    <ds:schemaRef ds:uri="190c1648-b1d3-41dd-9752-7b8b6cd6cd68"/>
    <ds:schemaRef ds:uri="62ddbec2-0c56-4692-8112-7f137903115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Microsoft Macintosh PowerPoint</Application>
  <PresentationFormat>On-screen Show (16:9)</PresentationFormat>
  <Paragraphs>338</Paragraphs>
  <Slides>18</Slides>
  <Notes>18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 Text Formats: JSON, YAML, and Markdown</dc:title>
  <dc:subject>PptxGenJS Presentation</dc:subject>
  <dc:creator>PptxGenJS</dc:creator>
  <cp:lastModifiedBy>Gabriela Saldana</cp:lastModifiedBy>
  <cp:revision>4</cp:revision>
  <dcterms:created xsi:type="dcterms:W3CDTF">2026-04-02T18:14:59Z</dcterms:created>
  <dcterms:modified xsi:type="dcterms:W3CDTF">2026-04-02T23:53:53Z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0x010100C94D52E0DA1BEC4E99F2EF7383873057</vt:lpwstr>
  </property>
  <property fmtid="{D5CDD505-2E9C-101B-9397-08002B2CF9AE}" pid="3" name="MediaServiceImageTags">
    <vt:lpwstr/>
  </property>
</Properties>
</file>