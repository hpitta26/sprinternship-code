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58" r:id="rId7"/>
    <p:sldId id="259" r:id="rId8"/>
    <p:sldId id="27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81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EDD4"/>
    <a:srgbClr val="4F9E8D"/>
    <a:srgbClr val="A4DB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D4CBEF-5087-FBA6-8BD8-58AA7210852B}" v="1" dt="2026-04-02T23:56:30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BC958-935F-45E1-9413-F7D74CCF2659}" type="datetimeFigureOut"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D44F1-FB3C-4DD1-9EEE-3EF287EDB2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6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ABA3A-9F6F-375E-D578-F05B57D5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F69E7-0936-FE64-1B37-1572DEFE9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8966B-6AEB-901B-A491-2D5F390A9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CEA78-B2DC-F2A0-F6F2-5ABF11E493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01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512F4-0683-AA0C-FC8F-9279FD51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87C42-873F-4DF6-746A-0E4E174D7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A734F-7BE6-D08C-E572-438B808BE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63AFF-4229-4493-62D5-0FD5F92C52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88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" cy="50794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0572" y="1036768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600" b="1" dirty="0">
              <a:solidFill>
                <a:srgbClr val="FFFFFF"/>
              </a:solidFill>
              <a:latin typeface="Quantico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0572" y="23707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sz="1600">
                <a:solidFill>
                  <a:schemeClr val="bg1"/>
                </a:solidFill>
                <a:latin typeface="Source Code Pro"/>
                <a:ea typeface="Source Code Pro"/>
                <a:cs typeface="Calibri"/>
              </a:rPr>
              <a:t>Data Preparation &amp; Baseline Modeling</a:t>
            </a:r>
            <a:endParaRPr lang="en-US" sz="2800">
              <a:solidFill>
                <a:schemeClr val="bg1"/>
              </a:solidFill>
              <a:cs typeface="Calibri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653" y="1409251"/>
            <a:ext cx="192024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61573" y="933226"/>
            <a:ext cx="3200400" cy="32004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51438" y="2736476"/>
            <a:ext cx="2011680" cy="201168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EEFECE4-5A18-3C84-9A95-134026BFA6A8}"/>
              </a:ext>
            </a:extLst>
          </p:cNvPr>
          <p:cNvSpPr/>
          <p:nvPr/>
        </p:nvSpPr>
        <p:spPr>
          <a:xfrm>
            <a:off x="540572" y="68311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sz="1400" dirty="0">
                <a:solidFill>
                  <a:srgbClr val="B2EDD4"/>
                </a:solidFill>
                <a:latin typeface="Source Code Pro"/>
                <a:ea typeface="Source Code Pro"/>
                <a:cs typeface="Calibri"/>
              </a:rPr>
              <a:t>Sprinternship - Lesson 3</a:t>
            </a:r>
            <a:endParaRPr lang="en-US" sz="2000" dirty="0">
              <a:solidFill>
                <a:srgbClr val="B2EDD4"/>
              </a:solidFill>
              <a:ea typeface="Calibri"/>
              <a:cs typeface="Calibri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75E09CC-9A38-62F9-5CFD-85A327709079}"/>
              </a:ext>
            </a:extLst>
          </p:cNvPr>
          <p:cNvSpPr/>
          <p:nvPr/>
        </p:nvSpPr>
        <p:spPr>
          <a:xfrm>
            <a:off x="540572" y="440122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sz="1400" dirty="0">
                <a:solidFill>
                  <a:srgbClr val="B2EDD4"/>
                </a:solidFill>
                <a:latin typeface="Source Code Pro"/>
                <a:ea typeface="Source Code Pro"/>
                <a:cs typeface="Calibri"/>
              </a:rPr>
              <a:t>Gabriela Saldana | Henrique Pitta Laranjinha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1809B4-272C-4CA9-6350-38601E2AE045}"/>
              </a:ext>
            </a:extLst>
          </p:cNvPr>
          <p:cNvSpPr txBox="1"/>
          <p:nvPr/>
        </p:nvSpPr>
        <p:spPr>
          <a:xfrm>
            <a:off x="389965" y="1052232"/>
            <a:ext cx="584947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FFFFFF"/>
                </a:solidFill>
                <a:latin typeface="Quantico"/>
              </a:rPr>
              <a:t>Advanced:</a:t>
            </a:r>
            <a:endParaRPr lang="en-US"/>
          </a:p>
          <a:p>
            <a:r>
              <a:rPr lang="en-US" sz="3600">
                <a:solidFill>
                  <a:srgbClr val="FFFFFF"/>
                </a:solidFill>
                <a:latin typeface="Quantico"/>
              </a:rPr>
              <a:t>Data</a:t>
            </a:r>
            <a:r>
              <a:rPr lang="en-US" sz="3600" b="0" i="0" u="none" strike="noStrike" baseline="0">
                <a:solidFill>
                  <a:srgbClr val="FFFFFF"/>
                </a:solidFill>
                <a:latin typeface="Quantico"/>
              </a:rPr>
              <a:t> Science &amp;</a:t>
            </a:r>
            <a:r>
              <a:rPr lang="en-US" sz="3600" b="0" i="0">
                <a:latin typeface="Quantico"/>
              </a:rPr>
              <a:t>​</a:t>
            </a:r>
            <a:r>
              <a:rPr lang="en-US" sz="3600">
                <a:latin typeface="Quantico"/>
              </a:rPr>
              <a:t> </a:t>
            </a:r>
            <a:r>
              <a:rPr lang="en-US" sz="3600" b="0" i="0" u="none" strike="noStrike" baseline="0">
                <a:solidFill>
                  <a:srgbClr val="FFFFFF"/>
                </a:solidFill>
                <a:latin typeface="Quantico"/>
              </a:rPr>
              <a:t>AI Workshop</a:t>
            </a:r>
            <a:endParaRPr lang="en-US" b="0" i="0" u="none" strike="noStrike" baseline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endParaRPr lang="en-US"/>
          </a:p>
        </p:txBody>
      </p:sp>
      <p:pic>
        <p:nvPicPr>
          <p:cNvPr id="5" name="Picture 4" descr="A cartoon of a cat playing with a mouse&#10;&#10;AI-generated content may be incorrect.">
            <a:extLst>
              <a:ext uri="{FF2B5EF4-FFF2-40B4-BE49-F238E27FC236}">
                <a16:creationId xmlns:a16="http://schemas.microsoft.com/office/drawing/2014/main" id="{9515BF93-D64A-9AF2-D2AC-3DB4E11CF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930" y="2552981"/>
            <a:ext cx="2209240" cy="222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947" y="87577"/>
            <a:ext cx="8934893" cy="616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Today's Workshop at a Glance</a:t>
            </a:r>
            <a:endParaRPr lang="en-US" sz="280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81793"/>
            <a:ext cx="19659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81793"/>
            <a:ext cx="1965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459343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Pick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Model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310311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Classification vs Regression</a:t>
            </a:r>
          </a:p>
        </p:txBody>
      </p:sp>
      <p:sp>
        <p:nvSpPr>
          <p:cNvPr id="11" name="Shape 8"/>
          <p:cNvSpPr/>
          <p:nvPr/>
        </p:nvSpPr>
        <p:spPr>
          <a:xfrm>
            <a:off x="2240280" y="2573433"/>
            <a:ext cx="201168" cy="201168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41448" y="881793"/>
            <a:ext cx="19659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41448" y="881793"/>
            <a:ext cx="1965960" cy="457200"/>
          </a:xfrm>
          <a:prstGeom prst="rect">
            <a:avLst/>
          </a:prstGeom>
          <a:solidFill>
            <a:srgbClr val="7C2D24"/>
          </a:solidFill>
          <a:ln w="12700">
            <a:solidFill>
              <a:srgbClr val="7C2D2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532888" y="2459343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Titanic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32888" y="3260406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D9E2F3"/>
                </a:solidFill>
                <a:latin typeface="Calibri"/>
                <a:ea typeface="Calibri"/>
                <a:cs typeface="Calibri"/>
              </a:rPr>
              <a:t>Logistic Regression</a:t>
            </a:r>
          </a:p>
          <a:p>
            <a:pPr algn="ctr"/>
            <a:r>
              <a:rPr lang="en-US" sz="1200">
                <a:solidFill>
                  <a:srgbClr val="D9E2F3"/>
                </a:solidFill>
                <a:latin typeface="Calibri"/>
                <a:ea typeface="Calibri"/>
                <a:cs typeface="Calibri"/>
              </a:rPr>
              <a:t>+</a:t>
            </a:r>
          </a:p>
          <a:p>
            <a:pPr algn="ctr"/>
            <a:r>
              <a:rPr lang="en-US" sz="1200" dirty="0">
                <a:solidFill>
                  <a:srgbClr val="D9E2F3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>
                <a:solidFill>
                  <a:srgbClr val="D9E2F3"/>
                </a:solidFill>
                <a:latin typeface="Calibri"/>
                <a:ea typeface="Calibri"/>
                <a:cs typeface="Calibri"/>
              </a:rPr>
              <a:t>Activities</a:t>
            </a:r>
          </a:p>
        </p:txBody>
      </p:sp>
      <p:sp>
        <p:nvSpPr>
          <p:cNvPr id="19" name="Shape 15"/>
          <p:cNvSpPr/>
          <p:nvPr/>
        </p:nvSpPr>
        <p:spPr>
          <a:xfrm>
            <a:off x="4407408" y="2573433"/>
            <a:ext cx="201168" cy="20116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08576" y="881793"/>
            <a:ext cx="19659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08576" y="881793"/>
            <a:ext cx="1965960" cy="457200"/>
          </a:xfrm>
          <a:prstGeom prst="rect">
            <a:avLst/>
          </a:prstGeom>
          <a:solidFill>
            <a:srgbClr val="14406B"/>
          </a:solidFill>
          <a:ln w="12700">
            <a:solidFill>
              <a:srgbClr val="14406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00016" y="2448857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 Prices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700016" y="3260406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D9E2F3"/>
                </a:solidFill>
                <a:latin typeface="Calibri"/>
                <a:ea typeface="Calibri"/>
                <a:cs typeface="Calibri"/>
              </a:rPr>
              <a:t>Linear Regression</a:t>
            </a:r>
            <a:endParaRPr lang="en-US" sz="1200" dirty="0">
              <a:solidFill>
                <a:srgbClr val="D9E2F3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200">
                <a:solidFill>
                  <a:srgbClr val="D9E2F3"/>
                </a:solidFill>
                <a:latin typeface="Calibri"/>
                <a:ea typeface="Calibri"/>
                <a:cs typeface="Calibri"/>
              </a:rPr>
              <a:t>+</a:t>
            </a:r>
            <a:endParaRPr lang="en-US" sz="1200" dirty="0">
              <a:solidFill>
                <a:srgbClr val="D9E2F3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>
                <a:solidFill>
                  <a:srgbClr val="D9E2F3"/>
                </a:solidFill>
                <a:latin typeface="Calibri"/>
                <a:ea typeface="Calibri"/>
                <a:cs typeface="Calibri"/>
              </a:rPr>
              <a:t>Activities</a:t>
            </a:r>
          </a:p>
        </p:txBody>
      </p:sp>
      <p:sp>
        <p:nvSpPr>
          <p:cNvPr id="27" name="Shape 22"/>
          <p:cNvSpPr/>
          <p:nvPr/>
        </p:nvSpPr>
        <p:spPr>
          <a:xfrm>
            <a:off x="6574536" y="2573433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775704" y="881793"/>
            <a:ext cx="19659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775704" y="881793"/>
            <a:ext cx="1965960" cy="457200"/>
          </a:xfrm>
          <a:prstGeom prst="rect">
            <a:avLst/>
          </a:prstGeom>
          <a:solidFill>
            <a:srgbClr val="1A3B2B"/>
          </a:solidFill>
          <a:ln w="12700">
            <a:solidFill>
              <a:srgbClr val="1A3B2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867144" y="2448857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Wrap-Up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Bonus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6867144" y="3085391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D9E2F3"/>
                </a:solidFill>
                <a:latin typeface="Calibri"/>
                <a:ea typeface="Calibri"/>
                <a:cs typeface="Calibri"/>
              </a:rPr>
              <a:t>Make a Real Prediction</a:t>
            </a:r>
            <a:endParaRPr lang="en-US" sz="2800">
              <a:solidFill>
                <a:srgbClr val="D9E2F3"/>
              </a:solidFill>
            </a:endParaRPr>
          </a:p>
        </p:txBody>
      </p:sp>
      <p:sp>
        <p:nvSpPr>
          <p:cNvPr id="35" name="Text 29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supplemental notebook now — follow along with each section</a:t>
            </a:r>
            <a:endParaRPr lang="en-US" sz="1100" dirty="0">
              <a:solidFill>
                <a:srgbClr val="D9E2F3"/>
              </a:solidFill>
            </a:endParaRPr>
          </a:p>
        </p:txBody>
      </p:sp>
      <p:pic>
        <p:nvPicPr>
          <p:cNvPr id="36" name="Picture 35" descr="A cartoon of a cat on a keyboard&#10;&#10;AI-generated content may be incorrect.">
            <a:extLst>
              <a:ext uri="{FF2B5EF4-FFF2-40B4-BE49-F238E27FC236}">
                <a16:creationId xmlns:a16="http://schemas.microsoft.com/office/drawing/2014/main" id="{C49032F9-98A4-5C35-85A5-B73FD2421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40" y="1347741"/>
            <a:ext cx="1114601" cy="1156545"/>
          </a:xfrm>
          <a:prstGeom prst="rect">
            <a:avLst/>
          </a:prstGeom>
        </p:spPr>
      </p:pic>
      <p:pic>
        <p:nvPicPr>
          <p:cNvPr id="37" name="Picture 36" descr="A cartoon of a cat&#10;&#10;AI-generated content may be incorrect.">
            <a:extLst>
              <a:ext uri="{FF2B5EF4-FFF2-40B4-BE49-F238E27FC236}">
                <a16:creationId xmlns:a16="http://schemas.microsoft.com/office/drawing/2014/main" id="{0D16316C-B249-6408-3AA4-6F7777623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134" y="1363470"/>
            <a:ext cx="1193247" cy="1130331"/>
          </a:xfrm>
          <a:prstGeom prst="rect">
            <a:avLst/>
          </a:prstGeom>
        </p:spPr>
      </p:pic>
      <p:pic>
        <p:nvPicPr>
          <p:cNvPr id="38" name="Picture 37" descr="A sticker of a cat&#10;&#10;AI-generated content may be incorrect.">
            <a:extLst>
              <a:ext uri="{FF2B5EF4-FFF2-40B4-BE49-F238E27FC236}">
                <a16:creationId xmlns:a16="http://schemas.microsoft.com/office/drawing/2014/main" id="{F7B3C245-BC6F-5E0D-E6C6-67F4342E0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542" y="1337254"/>
            <a:ext cx="1193248" cy="1156546"/>
          </a:xfrm>
          <a:prstGeom prst="rect">
            <a:avLst/>
          </a:prstGeom>
        </p:spPr>
      </p:pic>
      <p:pic>
        <p:nvPicPr>
          <p:cNvPr id="39" name="Picture 38" descr="A cartoon of a cat&#10;&#10;AI-generated content may be incorrect.">
            <a:extLst>
              <a:ext uri="{FF2B5EF4-FFF2-40B4-BE49-F238E27FC236}">
                <a16:creationId xmlns:a16="http://schemas.microsoft.com/office/drawing/2014/main" id="{6EA7E767-EA22-7B42-B210-120AA9FA33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7753" y="1265598"/>
            <a:ext cx="1287623" cy="12981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5738" y="251495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Are We in CRISP-DM?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2103120"/>
            <a:ext cx="77724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755648"/>
            <a:ext cx="694944" cy="69494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7556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" y="2581904"/>
            <a:ext cx="1280160" cy="415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45920" y="1755648"/>
            <a:ext cx="694944" cy="69494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7556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53312" y="2586334"/>
            <a:ext cx="1280160" cy="411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16352" y="1755648"/>
            <a:ext cx="694944" cy="69494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6352" y="17556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10453" y="2586333"/>
            <a:ext cx="1306741" cy="398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62331" y="1526764"/>
            <a:ext cx="1055246" cy="1055246"/>
          </a:xfrm>
          <a:prstGeom prst="ellipse">
            <a:avLst/>
          </a:prstGeom>
          <a:solidFill>
            <a:srgbClr val="14B8A6">
              <a:alpha val="20000"/>
            </a:srgbClr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58768" y="1627632"/>
            <a:ext cx="857942" cy="857942"/>
          </a:xfrm>
          <a:prstGeom prst="ellipse">
            <a:avLst/>
          </a:prstGeom>
          <a:solidFill>
            <a:srgbClr val="14B8A6"/>
          </a:solidFill>
          <a:ln w="25400">
            <a:solidFill>
              <a:srgbClr val="5EEA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13826" y="1871294"/>
            <a:ext cx="525674" cy="428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36583" y="968839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32990" y="1840282"/>
            <a:ext cx="494663" cy="4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84223" y="1115036"/>
            <a:ext cx="1054219" cy="402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27648" y="1755648"/>
            <a:ext cx="694944" cy="694944"/>
          </a:xfrm>
          <a:prstGeom prst="ellipse">
            <a:avLst/>
          </a:prstGeom>
          <a:solidFill>
            <a:srgbClr val="334155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17556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90098" y="2581903"/>
            <a:ext cx="974474" cy="402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98080" y="1755648"/>
            <a:ext cx="694944" cy="694944"/>
          </a:xfrm>
          <a:prstGeom prst="ellipse">
            <a:avLst/>
          </a:prstGeom>
          <a:solidFill>
            <a:srgbClr val="334155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17556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69390" y="2612916"/>
            <a:ext cx="952324" cy="335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154680"/>
            <a:ext cx="8595360" cy="1600200"/>
          </a:xfrm>
          <a:prstGeom prst="rect">
            <a:avLst/>
          </a:prstGeom>
          <a:solidFill>
            <a:srgbClr val="0A1F1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1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30168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68680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 — Data Preparation:  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991293" y="3620740"/>
            <a:ext cx="5695507" cy="33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Handle missing values, encode categoricals, engineer features, scale inputs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33088"/>
            <a:ext cx="320040" cy="32004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68680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5 — Modeling:  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2357770" y="4123660"/>
            <a:ext cx="6329030" cy="33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 (Titanic) and Linear Regression (House Prices)</a:t>
            </a:r>
            <a:endParaRPr lang="en-US" sz="120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DE38F360-8588-AE6D-55B6-09D238683C7F}"/>
              </a:ext>
            </a:extLst>
          </p:cNvPr>
          <p:cNvSpPr/>
          <p:nvPr/>
        </p:nvSpPr>
        <p:spPr>
          <a:xfrm>
            <a:off x="4971784" y="1562206"/>
            <a:ext cx="1055246" cy="1055246"/>
          </a:xfrm>
          <a:prstGeom prst="ellipse">
            <a:avLst/>
          </a:prstGeom>
          <a:solidFill>
            <a:srgbClr val="14B8A6">
              <a:alpha val="20000"/>
            </a:srgbClr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38393427-5606-8841-73D7-96A94C3A23D6}"/>
              </a:ext>
            </a:extLst>
          </p:cNvPr>
          <p:cNvSpPr/>
          <p:nvPr/>
        </p:nvSpPr>
        <p:spPr>
          <a:xfrm>
            <a:off x="5068221" y="1671934"/>
            <a:ext cx="857942" cy="857942"/>
          </a:xfrm>
          <a:prstGeom prst="ellipse">
            <a:avLst/>
          </a:prstGeom>
          <a:solidFill>
            <a:srgbClr val="14B8A6"/>
          </a:solidFill>
          <a:ln w="25400">
            <a:solidFill>
              <a:srgbClr val="5EEAD4"/>
            </a:solidFill>
            <a:prstDash val="solid"/>
          </a:ln>
        </p:spPr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5E34E22A-6BDA-0A42-94C3-F56BF1DF3FA2}"/>
              </a:ext>
            </a:extLst>
          </p:cNvPr>
          <p:cNvSpPr/>
          <p:nvPr/>
        </p:nvSpPr>
        <p:spPr>
          <a:xfrm>
            <a:off x="5249861" y="1871294"/>
            <a:ext cx="525674" cy="428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F172A"/>
                </a:solidFill>
                <a:latin typeface="Trebuchet MS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2286000" y="1371600"/>
            <a:ext cx="0" cy="41148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37160"/>
            <a:ext cx="6400800" cy="530352"/>
          </a:xfrm>
          <a:prstGeom prst="roundRect">
            <a:avLst>
              <a:gd name="adj" fmla="val 31034"/>
            </a:avLst>
          </a:prstGeom>
          <a:solidFill>
            <a:srgbClr val="0D9488"/>
          </a:solidFill>
          <a:ln w="2540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3716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You Pick a Model?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964727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964727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kind of output am I trying to predict?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169164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874520"/>
            <a:ext cx="1188720" cy="1188720"/>
          </a:xfrm>
          <a:prstGeom prst="ellipse">
            <a:avLst/>
          </a:prstGeom>
          <a:solidFill>
            <a:srgbClr val="4A1520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74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88720" y="1783080"/>
            <a:ext cx="0" cy="36576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19072" y="2084832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2148840"/>
            <a:ext cx="365760" cy="0"/>
          </a:xfrm>
          <a:prstGeom prst="line">
            <a:avLst/>
          </a:prstGeom>
          <a:noFill/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34432" y="1988962"/>
            <a:ext cx="1360082" cy="315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Survived: Yes or No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19072" y="2542032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2606040"/>
            <a:ext cx="365760" cy="0"/>
          </a:xfrm>
          <a:prstGeom prst="line">
            <a:avLst/>
          </a:prstGeom>
          <a:noFill/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7723" y="2459452"/>
            <a:ext cx="1116419" cy="302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Spam: Yes or 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19072" y="2999232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83080" y="3063240"/>
            <a:ext cx="365760" cy="0"/>
          </a:xfrm>
          <a:prstGeom prst="line">
            <a:avLst/>
          </a:prstGeom>
          <a:noFill/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2153" y="2907792"/>
            <a:ext cx="21220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Disease: Positive / Negative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8622" y="3362369"/>
            <a:ext cx="1828800" cy="457200"/>
          </a:xfrm>
          <a:prstGeom prst="roundRect">
            <a:avLst>
              <a:gd name="adj" fmla="val 3600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622" y="3362369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3041" y="3919303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 Regression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3041" y="4166191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Tree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3041" y="4413079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3041" y="4659967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1371600"/>
            <a:ext cx="0" cy="41148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1783080"/>
            <a:ext cx="1691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0920" y="1874520"/>
            <a:ext cx="1188720" cy="1188720"/>
          </a:xfrm>
          <a:prstGeom prst="ellipse">
            <a:avLst/>
          </a:prstGeom>
          <a:solidFill>
            <a:srgbClr val="0A2C2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1874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5280" y="1783080"/>
            <a:ext cx="0" cy="36576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20848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2148840"/>
            <a:ext cx="96012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39748" y="1993392"/>
            <a:ext cx="17990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price: $245,000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96912" y="25420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2606040"/>
            <a:ext cx="96012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1376" y="2455022"/>
            <a:ext cx="1267401" cy="306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73.4°F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296912" y="29992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3063240"/>
            <a:ext cx="96012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2399" y="2907792"/>
            <a:ext cx="1586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value: $142.50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87717" y="3309207"/>
            <a:ext cx="1828800" cy="457200"/>
          </a:xfrm>
          <a:prstGeom prst="roundRect">
            <a:avLst>
              <a:gd name="adj" fmla="val 3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87717" y="3309207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16209" y="3883861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Regression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16209" y="4130749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Tree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16209" y="4377637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16209" y="4624525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43200" y="3675498"/>
            <a:ext cx="3595577" cy="548640"/>
          </a:xfrm>
          <a:prstGeom prst="rect">
            <a:avLst/>
          </a:prstGeom>
          <a:solidFill>
            <a:srgbClr val="A4DBC4"/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Many model families appear in both columns.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400" i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output type decides which side you're on.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BA8B93-3BFD-05C7-5757-C8A43A97C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0D20DB-0B1F-0263-3301-5D646F49D910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0DAAF5C-EBE9-FD1F-AFF1-5A41DEE396C9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1DB5E4-8FA8-53CE-6CED-4E1E91E5B6DA}"/>
              </a:ext>
            </a:extLst>
          </p:cNvPr>
          <p:cNvSpPr/>
          <p:nvPr/>
        </p:nvSpPr>
        <p:spPr>
          <a:xfrm>
            <a:off x="1444869" y="1872790"/>
            <a:ext cx="6400800" cy="875909"/>
          </a:xfrm>
          <a:prstGeom prst="roundRect">
            <a:avLst>
              <a:gd name="adj" fmla="val 31034"/>
            </a:avLst>
          </a:prstGeom>
          <a:solidFill>
            <a:srgbClr val="0D9488"/>
          </a:solidFill>
          <a:ln w="25400">
            <a:solidFill>
              <a:srgbClr val="5EEAD4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03AAA2-C3ED-316D-82FF-17F61159AFE3}"/>
              </a:ext>
            </a:extLst>
          </p:cNvPr>
          <p:cNvSpPr/>
          <p:nvPr/>
        </p:nvSpPr>
        <p:spPr>
          <a:xfrm>
            <a:off x="1444869" y="2107592"/>
            <a:ext cx="6400800" cy="46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Your Turn to Pick a Model!</a:t>
            </a:r>
          </a:p>
          <a:p>
            <a:pPr algn="ctr"/>
            <a:r>
              <a:rPr lang="en-US" sz="2000" b="1">
                <a:solidFill>
                  <a:srgbClr val="FFFFFF"/>
                </a:solidFill>
                <a:latin typeface="Trebuchet MS"/>
                <a:ea typeface="Calibri" panose="020F0502020204030204"/>
                <a:cs typeface="Calibri" panose="020F0502020204030204"/>
              </a:rPr>
              <a:t>Kahoot!</a:t>
            </a:r>
            <a:endParaRPr lang="en-US" sz="2000" b="1" dirty="0">
              <a:solidFill>
                <a:srgbClr val="FFFFFF"/>
              </a:solidFill>
              <a:latin typeface="Trebuchet MS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3769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" cy="50794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4693" y="530352"/>
            <a:ext cx="8214946" cy="1477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ierstadt Display"/>
                <a:ea typeface="Trebuchet MS" pitchFamily="34" charset="-122"/>
                <a:cs typeface="Times New Roman"/>
              </a:rPr>
              <a:t>Logistic Regression</a:t>
            </a:r>
            <a:endParaRPr lang="en-US" sz="4000">
              <a:latin typeface="Bierstadt Display"/>
              <a:cs typeface="Times New Roman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ierstadt Display"/>
                <a:ea typeface="Trebuchet MS" pitchFamily="34" charset="-122"/>
                <a:cs typeface="Times New Roman"/>
              </a:rPr>
              <a:t>on the Titanic</a:t>
            </a:r>
            <a:endParaRPr lang="en-US" sz="4000" dirty="0">
              <a:latin typeface="Bierstadt Display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20299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Classification: Predicting a Category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56616" y="2532888"/>
            <a:ext cx="475488" cy="475488"/>
          </a:xfrm>
          <a:prstGeom prst="ellipse">
            <a:avLst/>
          </a:prstGeom>
          <a:solidFill>
            <a:srgbClr val="F87171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32104" y="2770632"/>
            <a:ext cx="32004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52144" y="2514600"/>
            <a:ext cx="76809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" y="2514600"/>
            <a:ext cx="54864" cy="685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98448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Question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98448" y="2843784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Given </a:t>
            </a:r>
            <a:r>
              <a:rPr lang="en-US" sz="13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what</a:t>
            </a:r>
            <a:r>
              <a:rPr lang="en-US" sz="13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we know about a passenger, did they survive?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56616" y="3328416"/>
            <a:ext cx="475488" cy="475488"/>
          </a:xfrm>
          <a:prstGeom prst="ellipse">
            <a:avLst/>
          </a:prstGeom>
          <a:solidFill>
            <a:srgbClr val="FCD34D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32104" y="3566160"/>
            <a:ext cx="320040" cy="0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2144" y="3310128"/>
            <a:ext cx="76809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52144" y="3310128"/>
            <a:ext cx="54864" cy="6858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98448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98448" y="3639312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Survived — 0 (did not survive) or 1 (survived) — </a:t>
            </a:r>
            <a:r>
              <a:rPr lang="en-US" sz="13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binary</a:t>
            </a:r>
            <a:r>
              <a:rPr lang="en-US" sz="13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classification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56616" y="4123944"/>
            <a:ext cx="475488" cy="475488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6616" y="4123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32104" y="4361688"/>
            <a:ext cx="3200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52144" y="4105656"/>
            <a:ext cx="76809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52144" y="4105656"/>
            <a:ext cx="54864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98448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4B8A6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Why Logistic Regression?</a:t>
            </a:r>
            <a:endParaRPr lang="en-US" sz="1200">
              <a:latin typeface="Trebuchet M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298448" y="4434840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Simple, interpretable, outputs a </a:t>
            </a:r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lang="en-US" sz="12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. Strong baseline — if complex models can't beat it, they aren't learning.</a:t>
            </a:r>
            <a:endParaRPr lang="en-US" sz="1200">
              <a:ea typeface="Calibri"/>
              <a:cs typeface="Calibri"/>
            </a:endParaRPr>
          </a:p>
        </p:txBody>
      </p:sp>
      <p:pic>
        <p:nvPicPr>
          <p:cNvPr id="30" name="Picture 29" descr="A cartoon of a cat&#10;&#10;AI-generated content may be incorrect.">
            <a:extLst>
              <a:ext uri="{FF2B5EF4-FFF2-40B4-BE49-F238E27FC236}">
                <a16:creationId xmlns:a16="http://schemas.microsoft.com/office/drawing/2014/main" id="{51BD6E16-AE3A-3663-0412-3EEAE3B78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948" y="357808"/>
            <a:ext cx="1933095" cy="18524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2319" y="278077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Logistic Regression?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 flipV="1">
            <a:off x="1517620" y="2002820"/>
            <a:ext cx="1551822" cy="17720"/>
          </a:xfrm>
          <a:prstGeom prst="line">
            <a:avLst/>
          </a:prstGeom>
          <a:noFill/>
          <a:ln w="2286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5672" y="2007250"/>
            <a:ext cx="1669844" cy="8860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1005840" cy="1005840"/>
          </a:xfrm>
          <a:prstGeom prst="ellipse">
            <a:avLst/>
          </a:prstGeom>
          <a:solidFill>
            <a:srgbClr val="334155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3274" y="1874696"/>
            <a:ext cx="1022853" cy="27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99484" y="257219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Age, Sex, </a:t>
            </a:r>
            <a:r>
              <a:rPr lang="en-US" sz="11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Pclass</a:t>
            </a: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, Fare…</a:t>
            </a:r>
            <a:endParaRPr lang="en-US" sz="11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090672" y="1444752"/>
            <a:ext cx="1133856" cy="1133856"/>
          </a:xfrm>
          <a:prstGeom prst="ellipse">
            <a:avLst/>
          </a:prstGeom>
          <a:solidFill>
            <a:srgbClr val="0D9488"/>
          </a:solidFill>
          <a:ln w="25400">
            <a:solidFill>
              <a:srgbClr val="5EEA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80360" y="1691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97880" y="1508760"/>
            <a:ext cx="1005840" cy="100584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3560" y="1737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P(Survived)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57723" y="2541181"/>
            <a:ext cx="686155" cy="26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= 0.83</a:t>
            </a:r>
            <a:endParaRPr lang="en-US" sz="11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922008" y="2011680"/>
            <a:ext cx="45720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79208" y="2011680"/>
            <a:ext cx="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79208" y="2011680"/>
            <a:ext cx="0" cy="50292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79208" y="1508760"/>
            <a:ext cx="41148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79208" y="2514600"/>
            <a:ext cx="41148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96912" y="2432304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0" y="1353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Survived 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863840" y="16642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P ≥ 0.5</a:t>
            </a:r>
          </a:p>
        </p:txBody>
      </p:sp>
      <p:sp>
        <p:nvSpPr>
          <p:cNvPr id="25" name="Text 22"/>
          <p:cNvSpPr/>
          <p:nvPr/>
        </p:nvSpPr>
        <p:spPr>
          <a:xfrm>
            <a:off x="7863840" y="23591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Not ✗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863840" y="2670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P &lt; 0.5</a:t>
            </a:r>
            <a:endParaRPr lang="en-US" sz="10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74320" y="3017520"/>
            <a:ext cx="41148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74320" y="3017520"/>
            <a:ext cx="54864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3081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Interpretable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336499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Coefficients show direction &amp; strength of each feature's influence.</a:t>
            </a:r>
            <a:endParaRPr lang="en-US" sz="11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663440" y="3017520"/>
            <a:ext cx="41148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63440" y="3017520"/>
            <a:ext cx="54864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0" y="3081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Baseline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46320" y="336499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If a complex model can't beat it, it hasn't learned anything real.</a:t>
            </a:r>
            <a:endParaRPr lang="en-US" sz="11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274320" y="3840480"/>
            <a:ext cx="41148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74320" y="3840480"/>
            <a:ext cx="5486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3904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Outputs Probability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7200" y="418795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P(Survived) = 0.83 — richer than a raw class label.</a:t>
            </a:r>
            <a:endParaRPr lang="en-US" sz="11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663440" y="3840480"/>
            <a:ext cx="411480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663440" y="3840480"/>
            <a:ext cx="54864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46320" y="3904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&amp; Reliable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846320" y="418795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Trains in </a:t>
            </a:r>
            <a:r>
              <a:rPr lang="en-US" sz="11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ms.</a:t>
            </a: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 Ideal for smoke-testing pipelines.</a:t>
            </a:r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7A84505E-94C4-E81D-1D53-9CFEB0C8DEF4}"/>
              </a:ext>
            </a:extLst>
          </p:cNvPr>
          <p:cNvSpPr/>
          <p:nvPr/>
        </p:nvSpPr>
        <p:spPr>
          <a:xfrm>
            <a:off x="7379208" y="1524354"/>
            <a:ext cx="0" cy="502920"/>
          </a:xfrm>
          <a:prstGeom prst="line">
            <a:avLst/>
          </a:prstGeom>
          <a:noFill/>
          <a:ln w="19050">
            <a:solidFill>
              <a:srgbClr val="A4DB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96912" y="1426464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"/>
            <a:ext cx="8229600" cy="502920"/>
          </a:xfrm>
          <a:prstGeom prst="roundRect">
            <a:avLst>
              <a:gd name="adj" fmla="val 32727"/>
            </a:avLst>
          </a:prstGeom>
          <a:solidFill>
            <a:srgbClr val="1E1340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Preparation Checklist — Titanic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4992" y="785817"/>
            <a:ext cx="475488" cy="475488"/>
          </a:xfrm>
          <a:prstGeom prst="ellipse">
            <a:avLst/>
          </a:prstGeom>
          <a:solidFill>
            <a:srgbClr val="F87171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4992" y="78581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0480" y="1023561"/>
            <a:ext cx="320040" cy="0"/>
          </a:xfrm>
          <a:prstGeom prst="line">
            <a:avLst/>
          </a:prstGeom>
          <a:noFill/>
          <a:ln w="1524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70520" y="840681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0520" y="840681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~77% missing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16440" y="1023561"/>
            <a:ext cx="5029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7960" y="831254"/>
            <a:ext cx="5183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0308" y="996980"/>
            <a:ext cx="320040" cy="0"/>
          </a:xfrm>
          <a:prstGeom prst="line">
            <a:avLst/>
          </a:prstGeom>
          <a:noFill/>
          <a:ln w="1524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66340" y="932972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03500" y="795812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03500" y="7958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the column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32300" y="996980"/>
            <a:ext cx="182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2073" y="81410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too sparse to impute reliably</a:t>
            </a:r>
            <a:endParaRPr lang="en-US" sz="9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4992" y="1480761"/>
            <a:ext cx="475488" cy="475488"/>
          </a:xfrm>
          <a:prstGeom prst="ellipse">
            <a:avLst/>
          </a:prstGeom>
          <a:solidFill>
            <a:srgbClr val="FCD34D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992" y="1480761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0480" y="1718505"/>
            <a:ext cx="320040" cy="0"/>
          </a:xfrm>
          <a:prstGeom prst="line">
            <a:avLst/>
          </a:prstGeom>
          <a:noFill/>
          <a:ln w="15240">
            <a:solidFill>
              <a:srgbClr val="FCD3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70520" y="1535625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70520" y="1535625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~20% missing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16440" y="1718505"/>
            <a:ext cx="5029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17960" y="1517337"/>
            <a:ext cx="518337" cy="39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10308" y="1691924"/>
            <a:ext cx="320040" cy="0"/>
          </a:xfrm>
          <a:prstGeom prst="line">
            <a:avLst/>
          </a:prstGeom>
          <a:noFill/>
          <a:ln w="15240">
            <a:solidFill>
              <a:srgbClr val="FCD3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6340" y="1627916"/>
            <a:ext cx="128016" cy="128016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03500" y="1490756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03500" y="14907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Impute with median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32300" y="1691924"/>
            <a:ext cx="182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22073" y="150904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median is robust to outliers</a:t>
            </a:r>
            <a:endParaRPr lang="en-US" sz="9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4992" y="2175705"/>
            <a:ext cx="475488" cy="475488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992" y="217570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0480" y="2413449"/>
            <a:ext cx="320040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70520" y="2230569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70520" y="2230569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Categorical text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16440" y="2413449"/>
            <a:ext cx="5029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17960" y="2212281"/>
            <a:ext cx="11385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Sex, Embarked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210308" y="2386868"/>
            <a:ext cx="320040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66340" y="232286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03500" y="21857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03500" y="21857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to numbers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432300" y="2386868"/>
            <a:ext cx="182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22073" y="220398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models can't read strings</a:t>
            </a:r>
            <a:endParaRPr lang="en-US" sz="9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74992" y="2870649"/>
            <a:ext cx="475488" cy="475488"/>
          </a:xfrm>
          <a:prstGeom prst="ellipse">
            <a:avLst/>
          </a:prstGeom>
          <a:solidFill>
            <a:srgbClr val="F87171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4992" y="2870649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50480" y="3108393"/>
            <a:ext cx="320040" cy="0"/>
          </a:xfrm>
          <a:prstGeom prst="line">
            <a:avLst/>
          </a:prstGeom>
          <a:noFill/>
          <a:ln w="15240">
            <a:solidFill>
              <a:srgbClr val="F8717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70520" y="2925513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70520" y="2925513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Non-informative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916440" y="3108393"/>
            <a:ext cx="5029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17959" y="2893935"/>
            <a:ext cx="15505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PassengerId, Name, Ticket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210308" y="3081812"/>
            <a:ext cx="320040" cy="0"/>
          </a:xfrm>
          <a:prstGeom prst="line">
            <a:avLst/>
          </a:prstGeom>
          <a:noFill/>
          <a:ln w="15240">
            <a:solidFill>
              <a:srgbClr val="F8717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66340" y="3017804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03500" y="2880644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03500" y="28806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columns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432300" y="3081812"/>
            <a:ext cx="182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22073" y="289893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adds noise, no signal</a:t>
            </a:r>
            <a:endParaRPr lang="en-US" sz="9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74992" y="3565593"/>
            <a:ext cx="475488" cy="475488"/>
          </a:xfrm>
          <a:prstGeom prst="ellipse">
            <a:avLst/>
          </a:prstGeom>
          <a:solidFill>
            <a:srgbClr val="A78BF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4992" y="3565593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50480" y="3803337"/>
            <a:ext cx="320040" cy="0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70520" y="3620457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70520" y="3620457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Skewed Fare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916440" y="3803337"/>
            <a:ext cx="5029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17959" y="3606599"/>
            <a:ext cx="3898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210308" y="3776756"/>
            <a:ext cx="320040" cy="0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66340" y="3712748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03500" y="357558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03500" y="35755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log1p(Fare)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432300" y="3776756"/>
            <a:ext cx="182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22073" y="359387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compresses right tail for LR</a:t>
            </a:r>
            <a:endParaRPr lang="en-US" sz="9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474992" y="4260537"/>
            <a:ext cx="475488" cy="475488"/>
          </a:xfrm>
          <a:prstGeom prst="ellipse">
            <a:avLst/>
          </a:prstGeom>
          <a:solidFill>
            <a:srgbClr val="34D399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4992" y="426053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50480" y="4498281"/>
            <a:ext cx="32004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270520" y="4315401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270520" y="4315401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opportunity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916440" y="4498281"/>
            <a:ext cx="5029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517960" y="4288253"/>
            <a:ext cx="1032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SibSp + Parch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5210308" y="4471700"/>
            <a:ext cx="32004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466340" y="4407692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03500" y="4270532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03500" y="42705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FamilySize, IsAlone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7432300" y="4471700"/>
            <a:ext cx="182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722073" y="428882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richer signal than raw counts</a:t>
            </a:r>
            <a:endParaRPr lang="en-US" sz="9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8878" y="208044"/>
            <a:ext cx="1554480" cy="475488"/>
          </a:xfrm>
          <a:prstGeom prst="roundRect">
            <a:avLst>
              <a:gd name="adj" fmla="val 19231"/>
            </a:avLst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8878" y="2080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217755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These Choices?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7315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— Discuss with your group, write answers in the notebook cell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0312" y="1188720"/>
            <a:ext cx="585216" cy="58521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95528" y="1481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9848" y="1097280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9848" y="1097280"/>
            <a:ext cx="54864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95613" y="120257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dropped Cabin but imputed Age. 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What's the rule of thumb for when to drop vs. impute a column with missing values?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10312" y="2121408"/>
            <a:ext cx="585216" cy="585216"/>
          </a:xfrm>
          <a:prstGeom prst="ellipse">
            <a:avLst/>
          </a:prstGeom>
          <a:solidFill>
            <a:srgbClr val="A78BF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0312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95528" y="2414016"/>
            <a:ext cx="2743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69848" y="2029968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69848" y="2029968"/>
            <a:ext cx="54864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73461" y="21396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used median for Age, not mean. 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Why? Think about what happens to the mean when there are extreme outliers.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10312" y="3054096"/>
            <a:ext cx="585216" cy="585216"/>
          </a:xfrm>
          <a:prstGeom prst="ellipse">
            <a:avLst/>
          </a:prstGeom>
          <a:solidFill>
            <a:srgbClr val="F87171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0312" y="305409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95528" y="3346704"/>
            <a:ext cx="27432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69848" y="2962656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69848" y="2962656"/>
            <a:ext cx="54864" cy="7772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73461" y="307238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applied log1p(Fare) instead of Fare. 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problem does this solve and why does it matter for a linear model?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10312" y="3986784"/>
            <a:ext cx="585216" cy="585216"/>
          </a:xfrm>
          <a:prstGeom prst="ellipse">
            <a:avLst/>
          </a:prstGeom>
          <a:solidFill>
            <a:srgbClr val="FCD34D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10312" y="39867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95528" y="4279392"/>
            <a:ext cx="274320" cy="0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69848" y="3895344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69848" y="3895344"/>
            <a:ext cx="54864" cy="777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73461" y="400507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encoded Sex as {male: 0, female: 1}. 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Could we use other numbers? Would the model care? What about {male: 1, 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female: 2}?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/ Test Split  &amp;  Naive Baseline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50392"/>
            <a:ext cx="85953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03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Dataset — 891 rows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6858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8132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Training Set — 80%  (712 rows)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Model learns patterns here — never touches test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0" y="1481328"/>
            <a:ext cx="1554480" cy="685800"/>
          </a:xfrm>
          <a:prstGeom prst="rect">
            <a:avLst/>
          </a:prstGeom>
          <a:solidFill>
            <a:srgbClr val="4A15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48132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/>
                <a:ea typeface="Calibri"/>
                <a:cs typeface="Calibri"/>
              </a:rPr>
              <a:t>Test Set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/>
                <a:ea typeface="Calibri"/>
                <a:cs typeface="Calibri"/>
              </a:rPr>
              <a:t>20%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/>
                <a:ea typeface="Calibri"/>
                <a:cs typeface="Calibri"/>
              </a:rPr>
              <a:t>(179 rows)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" y="2240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stratify=y  —  ensures equal class balance in both splits</a:t>
            </a:r>
            <a:endParaRPr lang="en-US" sz="11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633472"/>
            <a:ext cx="8595360" cy="411480"/>
          </a:xfrm>
          <a:prstGeom prst="roundRect">
            <a:avLst>
              <a:gd name="adj" fmla="val 40000"/>
            </a:avLst>
          </a:prstGeom>
          <a:solidFill>
            <a:srgbClr val="1A0F2E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334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Naive Baseline — Your Minimum Bar to Beat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154680"/>
            <a:ext cx="41148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154680"/>
            <a:ext cx="4114800" cy="38404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54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58444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Always predict the majority class → ~ 61.6% accuracy for free, </a:t>
            </a:r>
            <a:r>
              <a:rPr lang="en-US" sz="140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with zero ML.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If your model is below this: stop, debug, don't tune.</a:t>
            </a:r>
            <a:endParaRPr lang="en-US" sz="12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3154680"/>
            <a:ext cx="41148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154680"/>
            <a:ext cx="4114800" cy="384048"/>
          </a:xfrm>
          <a:prstGeom prst="rect">
            <a:avLst/>
          </a:prstGeom>
          <a:solidFill>
            <a:srgbClr val="B2EDD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154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E8D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300">
              <a:solidFill>
                <a:srgbClr val="4F9E8D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00600" y="358444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The baseline anchors all future comparisons. </a:t>
            </a:r>
          </a:p>
          <a:p>
            <a:r>
              <a:rPr lang="en-US" sz="140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Every result slide </a:t>
            </a: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will say: did we beat this? </a:t>
            </a:r>
          </a:p>
          <a:p>
            <a:pPr marL="0" indent="0">
              <a:buNone/>
            </a:pPr>
            <a:r>
              <a:rPr lang="en-US" sz="140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The answer must </a:t>
            </a: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always be yes.</a:t>
            </a:r>
            <a:endParaRPr lang="en-US" sz="120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Evaluating the Classifier — Four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68683" y="856134"/>
            <a:ext cx="1353312" cy="1353312"/>
          </a:xfrm>
          <a:prstGeom prst="ellipse">
            <a:avLst/>
          </a:prstGeom>
          <a:solidFill>
            <a:srgbClr val="0A2C2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8411" y="965862"/>
            <a:ext cx="1133856" cy="1133856"/>
          </a:xfrm>
          <a:prstGeom prst="ellipse">
            <a:avLst/>
          </a:prstGeom>
          <a:solidFill>
            <a:srgbClr val="0A2C2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8411" y="96586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1995" y="1331622"/>
            <a:ext cx="402336" cy="402336"/>
          </a:xfrm>
          <a:prstGeom prst="ellipse">
            <a:avLst/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4331" y="1532790"/>
            <a:ext cx="5029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7251" y="1532790"/>
            <a:ext cx="0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7251" y="1532790"/>
            <a:ext cx="0" cy="41148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7251" y="1218775"/>
            <a:ext cx="228600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27251" y="1944270"/>
            <a:ext cx="228600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63243" y="1154767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3243" y="188026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01571" y="1063327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Of all predictions, how many were correct?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01571" y="178882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14B8A6"/>
                </a:solidFill>
                <a:latin typeface="Consolas"/>
                <a:ea typeface="Consolas" pitchFamily="34" charset="-122"/>
                <a:cs typeface="Consolas" pitchFamily="34" charset="-120"/>
              </a:rPr>
              <a:t>Formula:</a:t>
            </a:r>
            <a:endParaRPr lang="en-US" sz="1000" dirty="0">
              <a:solidFill>
                <a:srgbClr val="000000"/>
              </a:solidFill>
              <a:latin typeface="Consolas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000">
                <a:solidFill>
                  <a:srgbClr val="14B8A6"/>
                </a:solidFill>
                <a:latin typeface="Consolas"/>
                <a:ea typeface="Consolas" pitchFamily="34" charset="-122"/>
                <a:cs typeface="Consolas" pitchFamily="34" charset="-120"/>
              </a:rPr>
              <a:t>Correct / </a:t>
            </a:r>
            <a:r>
              <a:rPr lang="en-US" sz="1000" dirty="0">
                <a:solidFill>
                  <a:srgbClr val="14B8A6"/>
                </a:solidFill>
                <a:latin typeface="Consolas"/>
                <a:ea typeface="Consolas" pitchFamily="34" charset="-122"/>
                <a:cs typeface="Consolas" pitchFamily="34" charset="-120"/>
              </a:rPr>
              <a:t>Total</a:t>
            </a:r>
            <a:endParaRPr lang="en-US" sz="1000">
              <a:latin typeface="Consolas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6971" y="228259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Balanced classes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8544" y="802971"/>
            <a:ext cx="1353312" cy="1353312"/>
          </a:xfrm>
          <a:prstGeom prst="ellipse">
            <a:avLst/>
          </a:prstGeom>
          <a:solidFill>
            <a:srgbClr val="1A1040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8272" y="912699"/>
            <a:ext cx="1133856" cy="1133856"/>
          </a:xfrm>
          <a:prstGeom prst="ellipse">
            <a:avLst/>
          </a:prstGeom>
          <a:solidFill>
            <a:srgbClr val="1A1040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8272" y="912699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21856" y="1278459"/>
            <a:ext cx="402336" cy="402336"/>
          </a:xfrm>
          <a:prstGeom prst="ellipse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4192" y="1479627"/>
            <a:ext cx="502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27112" y="1479627"/>
            <a:ext cx="0" cy="0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27112" y="1479627"/>
            <a:ext cx="0" cy="411480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9391" y="1130170"/>
            <a:ext cx="228600" cy="0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27112" y="1891107"/>
            <a:ext cx="228600" cy="0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45383" y="1066162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63104" y="1827099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01431" y="1005732"/>
            <a:ext cx="1513190" cy="427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Of those we said survived, how many did?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201432" y="1735659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78BFA"/>
                </a:solidFill>
                <a:latin typeface="Consolas"/>
                <a:ea typeface="Consolas" pitchFamily="34" charset="-122"/>
                <a:cs typeface="Consolas" pitchFamily="34" charset="-120"/>
              </a:rPr>
              <a:t>Formula: </a:t>
            </a:r>
            <a:endParaRPr lang="en-US" sz="1000" dirty="0">
              <a:solidFill>
                <a:srgbClr val="000000"/>
              </a:solidFill>
              <a:latin typeface="Consolas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000">
                <a:solidFill>
                  <a:srgbClr val="A78BFA"/>
                </a:solidFill>
                <a:latin typeface="Consolas"/>
                <a:ea typeface="Consolas" pitchFamily="34" charset="-122"/>
                <a:cs typeface="Consolas" pitchFamily="34" charset="-120"/>
              </a:rPr>
              <a:t>TP / (TP + </a:t>
            </a:r>
            <a:r>
              <a:rPr lang="en-US" sz="1000" dirty="0">
                <a:solidFill>
                  <a:srgbClr val="A78BFA"/>
                </a:solidFill>
                <a:latin typeface="Consolas"/>
                <a:ea typeface="Consolas" pitchFamily="34" charset="-122"/>
                <a:cs typeface="Consolas" pitchFamily="34" charset="-120"/>
              </a:rPr>
              <a:t>FP)</a:t>
            </a:r>
            <a:endParaRPr lang="en-US" sz="1000">
              <a:latin typeface="Consolas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686832" y="2229435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False positives costly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683" y="2959254"/>
            <a:ext cx="1353312" cy="1353312"/>
          </a:xfrm>
          <a:prstGeom prst="ellipse">
            <a:avLst/>
          </a:prstGeom>
          <a:solidFill>
            <a:srgbClr val="2C0A0A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8411" y="3068982"/>
            <a:ext cx="1133856" cy="1133856"/>
          </a:xfrm>
          <a:prstGeom prst="ellipse">
            <a:avLst/>
          </a:prstGeom>
          <a:solidFill>
            <a:srgbClr val="2C0A0A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8411" y="306898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821995" y="3434742"/>
            <a:ext cx="402336" cy="402336"/>
          </a:xfrm>
          <a:prstGeom prst="ellipse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24331" y="3635910"/>
            <a:ext cx="50292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27251" y="3635910"/>
            <a:ext cx="0" cy="0"/>
          </a:xfrm>
          <a:prstGeom prst="line">
            <a:avLst/>
          </a:prstGeom>
          <a:noFill/>
          <a:ln w="15240">
            <a:solidFill>
              <a:srgbClr val="F8717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27251" y="3635910"/>
            <a:ext cx="0" cy="411480"/>
          </a:xfrm>
          <a:prstGeom prst="line">
            <a:avLst/>
          </a:prstGeom>
          <a:noFill/>
          <a:ln w="15240">
            <a:solidFill>
              <a:srgbClr val="F8717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53832" y="3339616"/>
            <a:ext cx="228600" cy="0"/>
          </a:xfrm>
          <a:prstGeom prst="line">
            <a:avLst/>
          </a:prstGeom>
          <a:noFill/>
          <a:ln w="15240">
            <a:solidFill>
              <a:srgbClr val="F8717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27251" y="4047390"/>
            <a:ext cx="228600" cy="0"/>
          </a:xfrm>
          <a:prstGeom prst="line">
            <a:avLst/>
          </a:prstGeom>
          <a:noFill/>
          <a:ln w="15240">
            <a:solidFill>
              <a:srgbClr val="F8717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89824" y="3275608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63243" y="3983382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28152" y="31841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Of actual survivors, how many did we catch?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001571" y="389194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F87171"/>
                </a:solidFill>
                <a:latin typeface="Consolas"/>
                <a:ea typeface="Consolas" pitchFamily="34" charset="-122"/>
                <a:cs typeface="Consolas" pitchFamily="34" charset="-120"/>
              </a:rPr>
              <a:t>Formula:</a:t>
            </a:r>
            <a:endParaRPr lang="en-US" sz="1000" dirty="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000">
                <a:solidFill>
                  <a:srgbClr val="F87171"/>
                </a:solidFill>
                <a:latin typeface="Consolas"/>
                <a:ea typeface="Consolas" pitchFamily="34" charset="-122"/>
                <a:cs typeface="Consolas" pitchFamily="34" charset="-120"/>
              </a:rPr>
              <a:t>TP / (TP + </a:t>
            </a:r>
            <a:r>
              <a:rPr lang="en-US" sz="1000" dirty="0">
                <a:solidFill>
                  <a:srgbClr val="F87171"/>
                </a:solidFill>
                <a:latin typeface="Consolas"/>
                <a:ea typeface="Consolas" pitchFamily="34" charset="-122"/>
                <a:cs typeface="Consolas" pitchFamily="34" charset="-120"/>
              </a:rPr>
              <a:t>FN)</a:t>
            </a:r>
            <a:endParaRPr lang="en-US" sz="1000">
              <a:latin typeface="Consolas"/>
              <a:ea typeface="Calibri"/>
              <a:cs typeface="Calibri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86971" y="438571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False negatives costly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8544" y="2906091"/>
            <a:ext cx="1353312" cy="1353312"/>
          </a:xfrm>
          <a:prstGeom prst="ellipse">
            <a:avLst/>
          </a:prstGeom>
          <a:solidFill>
            <a:srgbClr val="2C1A0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78272" y="3015819"/>
            <a:ext cx="1133856" cy="1133856"/>
          </a:xfrm>
          <a:prstGeom prst="ellipse">
            <a:avLst/>
          </a:prstGeom>
          <a:solidFill>
            <a:srgbClr val="2C1A0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8272" y="3015819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ROC-AUC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021856" y="3381579"/>
            <a:ext cx="402336" cy="402336"/>
          </a:xfrm>
          <a:prstGeom prst="ellipse">
            <a:avLst/>
          </a:prstGeom>
          <a:solidFill>
            <a:srgbClr val="1E293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24192" y="3582747"/>
            <a:ext cx="502920" cy="0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27112" y="3582747"/>
            <a:ext cx="0" cy="0"/>
          </a:xfrm>
          <a:prstGeom prst="line">
            <a:avLst/>
          </a:prstGeom>
          <a:noFill/>
          <a:ln w="15240">
            <a:solidFill>
              <a:srgbClr val="FCD34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27112" y="3582747"/>
            <a:ext cx="0" cy="411480"/>
          </a:xfrm>
          <a:prstGeom prst="line">
            <a:avLst/>
          </a:prstGeom>
          <a:noFill/>
          <a:ln w="15240">
            <a:solidFill>
              <a:srgbClr val="FCD34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35972" y="3259872"/>
            <a:ext cx="228600" cy="0"/>
          </a:xfrm>
          <a:prstGeom prst="line">
            <a:avLst/>
          </a:prstGeom>
          <a:noFill/>
          <a:ln w="15240">
            <a:solidFill>
              <a:srgbClr val="FCD34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27112" y="3994227"/>
            <a:ext cx="228600" cy="0"/>
          </a:xfrm>
          <a:prstGeom prst="line">
            <a:avLst/>
          </a:prstGeom>
          <a:noFill/>
          <a:ln w="15240">
            <a:solidFill>
              <a:srgbClr val="FCD34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71964" y="3195864"/>
            <a:ext cx="128016" cy="128016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63104" y="3930219"/>
            <a:ext cx="128016" cy="128016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05862" y="31132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How well does the model separate classes across all thresholds?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201432" y="3838779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FCD34D"/>
                </a:solidFill>
                <a:latin typeface="Consolas"/>
                <a:ea typeface="Consolas" pitchFamily="34" charset="-122"/>
                <a:cs typeface="Consolas" pitchFamily="34" charset="-120"/>
              </a:rPr>
              <a:t>Formula:</a:t>
            </a:r>
            <a:endParaRPr lang="en-US" sz="1000" dirty="0">
              <a:solidFill>
                <a:srgbClr val="000000"/>
              </a:solidFill>
              <a:latin typeface="Consolas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000">
                <a:solidFill>
                  <a:srgbClr val="FCD34D"/>
                </a:solidFill>
                <a:latin typeface="Consolas"/>
                <a:ea typeface="Consolas" pitchFamily="34" charset="-122"/>
                <a:cs typeface="Consolas" pitchFamily="34" charset="-120"/>
              </a:rPr>
              <a:t>P(score⁺ &gt; </a:t>
            </a:r>
            <a:r>
              <a:rPr lang="en-US" sz="1000" dirty="0">
                <a:solidFill>
                  <a:srgbClr val="FCD34D"/>
                </a:solidFill>
                <a:latin typeface="Consolas"/>
                <a:ea typeface="Consolas" pitchFamily="34" charset="-122"/>
                <a:cs typeface="Consolas" pitchFamily="34" charset="-120"/>
              </a:rPr>
              <a:t>score⁻)</a:t>
            </a:r>
            <a:endParaRPr lang="en-US" sz="1000">
              <a:latin typeface="Consolas"/>
              <a:ea typeface="Calibri"/>
              <a:cs typeface="Calibri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686832" y="4332555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Best single number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2319" y="273647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Confusion Matrix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48070" y="15323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Predicted: No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39710" y="15323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Predicted: Yes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390" y="18524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Actual: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390" y="27210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Actual: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48070" y="1852404"/>
            <a:ext cx="1645920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3790" y="19072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Neg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3790" y="22364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No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39710" y="1852404"/>
            <a:ext cx="1645920" cy="822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5430" y="19072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Trebuchet MS"/>
                <a:ea typeface="Trebuchet MS" pitchFamily="34" charset="-122"/>
                <a:cs typeface="Trebuchet MS" pitchFamily="34" charset="-120"/>
              </a:rPr>
              <a:t>False Pos</a:t>
            </a:r>
            <a:endParaRPr lang="en-US" sz="1300">
              <a:latin typeface="Trebuchet MS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685430" y="22364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/>
                <a:ea typeface="Calibri"/>
                <a:cs typeface="Calibri"/>
              </a:rPr>
              <a:t>Predicted Yes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900" dirty="0">
                <a:latin typeface="Calibri"/>
                <a:ea typeface="Calibri"/>
                <a:cs typeface="Calibri"/>
              </a:rPr>
              <a:t>Actually No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48070" y="2721084"/>
            <a:ext cx="1645920" cy="822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3790" y="27759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Neg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93790" y="31051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Yes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39710" y="2721084"/>
            <a:ext cx="1645920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5430" y="27759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Pos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85430" y="31051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Yes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Yes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46020" y="1218491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6020" y="1218491"/>
            <a:ext cx="54864" cy="9144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900" y="1291643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Positives (top-right)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28900" y="1602539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Predicted survived — they didn't. </a:t>
            </a:r>
            <a:endParaRPr lang="en-US" sz="11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In rescue: wasted resources.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46020" y="2270051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46020" y="2270051"/>
            <a:ext cx="54864" cy="9144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900" y="2343203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Negatives (bottom-left)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28900" y="2654099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Predicted didn't survive — they did. </a:t>
            </a:r>
            <a:endParaRPr lang="en-US" sz="11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We stop looking for someone </a:t>
            </a:r>
            <a:r>
              <a:rPr lang="en-US" sz="11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alive. More dangerous.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46020" y="3321611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46020" y="3321611"/>
            <a:ext cx="54864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900" y="3394763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 Curve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28900" y="3705659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Plots TP rate vs FP rate as threshold sweeps 0→1. </a:t>
            </a:r>
            <a:endParaRPr lang="en-US" sz="11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AUC = area under </a:t>
            </a:r>
            <a:r>
              <a:rPr lang="en-US" sz="110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it. Random = 0.5. Perfect = 1.0.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0018" y="208044"/>
            <a:ext cx="1554480" cy="475488"/>
          </a:xfrm>
          <a:prstGeom prst="roundRect">
            <a:avLst>
              <a:gd name="adj" fmla="val 19231"/>
            </a:avLst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7739" y="20804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20446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Coefficients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7315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 — Run the coefficient chart in your notebook, then answer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0312" y="1188720"/>
            <a:ext cx="585216" cy="58521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95528" y="1481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9848" y="1097280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9848" y="1097280"/>
            <a:ext cx="54864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07008" y="12070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Which feature has the strongest positive coefficient?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Does this match your EDA hypothesis from Lesson 2?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10312" y="2121408"/>
            <a:ext cx="585216" cy="585216"/>
          </a:xfrm>
          <a:prstGeom prst="ellipse">
            <a:avLst/>
          </a:prstGeom>
          <a:solidFill>
            <a:srgbClr val="F87171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0312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95528" y="2414016"/>
            <a:ext cx="27432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69848" y="2029968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69848" y="2029968"/>
            <a:ext cx="54864" cy="7772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07008" y="21396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Which feature has the strongest negative coefficient?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does that mean in plain English about its effect on survival?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10312" y="3054096"/>
            <a:ext cx="585216" cy="585216"/>
          </a:xfrm>
          <a:prstGeom prst="ellipse">
            <a:avLst/>
          </a:prstGeom>
          <a:solidFill>
            <a:srgbClr val="A78BF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0312" y="305409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95528" y="3346704"/>
            <a:ext cx="2743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69848" y="2962656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69848" y="2962656"/>
            <a:ext cx="54864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07008" y="307238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IsAlone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FamilySize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are both in the model and are related.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do you notice about their coefficients? Potential 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multicollinearity?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10312" y="3986784"/>
            <a:ext cx="585216" cy="585216"/>
          </a:xfrm>
          <a:prstGeom prst="ellipse">
            <a:avLst/>
          </a:prstGeom>
          <a:solidFill>
            <a:srgbClr val="FCD34D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10312" y="39867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95528" y="4279392"/>
            <a:ext cx="274320" cy="0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69848" y="3895344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69848" y="3895344"/>
            <a:ext cx="54864" cy="777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07008" y="400507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Pclass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coefficient is negative.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Does being in 3rd class (higher number) help or hurt survival odds according to the 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Cross-Validation — Is Our Score Trustworthy?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0550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80/20 split can be lucky or unlucky. 5-fold CV gives a stable, honest estimate.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600200" cy="438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(Fold 1)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39112" y="1115568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1115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12464" y="1115568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1115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85816" y="1115568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85816" y="1115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59168" y="1115568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11155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636776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63677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39112" y="1636776"/>
            <a:ext cx="1600200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163677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(Fold 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12464" y="1636776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163677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85816" y="1636776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85816" y="163677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59168" y="1636776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163677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157984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1579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39112" y="2157984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39112" y="21579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12464" y="2157984"/>
            <a:ext cx="1600200" cy="43891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12464" y="21579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(Fold 3)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85816" y="2157984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85816" y="21579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59168" y="2157984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21579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679192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67919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39112" y="2679192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39112" y="267919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12464" y="2679192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12464" y="267919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85816" y="2679192"/>
            <a:ext cx="1600200" cy="43891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85816" y="267919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(Fold 4)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59168" y="2679192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59168" y="267919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200400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2004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039112" y="3200400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39112" y="32004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712464" y="3200400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12464" y="32004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385816" y="3200400"/>
            <a:ext cx="16002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85816" y="32004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059168" y="3200400"/>
            <a:ext cx="1600200" cy="4389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59168" y="32004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(Fold 5)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3749040"/>
            <a:ext cx="54864" cy="1005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Results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Mean Accuracy: ~0.80   |   Std: ~0.015   →   Low std (&lt; 0.02) = stable model across splits.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std = overfitting to one particular split — your results are not reliable.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 Recap — Logistic Regression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20179" y="778658"/>
            <a:ext cx="1188720" cy="1188720"/>
          </a:xfrm>
          <a:prstGeom prst="ellipse">
            <a:avLst/>
          </a:prstGeom>
          <a:solidFill>
            <a:srgbClr val="1E293B"/>
          </a:solidFill>
          <a:ln w="3175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0179" y="77865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61.6%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908899" y="1373018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11996" y="1075980"/>
            <a:ext cx="1329602" cy="29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 Baseline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07566" y="1392157"/>
            <a:ext cx="1440358" cy="194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majority class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1857" y="760937"/>
            <a:ext cx="1188720" cy="1188720"/>
          </a:xfrm>
          <a:prstGeom prst="ellipse">
            <a:avLst/>
          </a:prstGeom>
          <a:solidFill>
            <a:srgbClr val="1E293B"/>
          </a:solidFill>
          <a:ln w="3175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1857" y="760937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81.0%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500577" y="1355297"/>
            <a:ext cx="3200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3802" y="1044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LR Accuracy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63802" y="13832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+19.4% vs baseline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0179" y="2195978"/>
            <a:ext cx="1188720" cy="1188720"/>
          </a:xfrm>
          <a:prstGeom prst="ellipse">
            <a:avLst/>
          </a:prstGeom>
          <a:solidFill>
            <a:srgbClr val="1E293B"/>
          </a:solidFill>
          <a:ln w="317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179" y="219597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0.86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908899" y="2790338"/>
            <a:ext cx="32004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7566" y="2493300"/>
            <a:ext cx="1214416" cy="29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ROC-AUC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07566" y="2809477"/>
            <a:ext cx="1449218" cy="30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class separation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11857" y="2178257"/>
            <a:ext cx="1188720" cy="1188720"/>
          </a:xfrm>
          <a:prstGeom prst="ellipse">
            <a:avLst/>
          </a:prstGeom>
          <a:solidFill>
            <a:srgbClr val="1E293B"/>
          </a:solidFill>
          <a:ln w="317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1857" y="2178257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500577" y="2772617"/>
            <a:ext cx="32004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3802" y="2462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5-Fold CV Mean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63802" y="2800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0.015 — stable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041" y="3606883"/>
            <a:ext cx="859536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921" y="369304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400">
              <a:latin typeface="Trebuchet MS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4921" y="3840304"/>
            <a:ext cx="5490122" cy="81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Sex and </a:t>
            </a:r>
            <a:r>
              <a:rPr lang="en-US" sz="12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Pclass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are the strongest drivers — matching EDA from Lesson 2.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is interpretable via coefficients.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This ~81% is the bar to beat in Lessons 4 &amp; 5 with Random Forest and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XGBoost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" cy="50794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House Prices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20299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predicting a continuous number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56616" y="2532888"/>
            <a:ext cx="475488" cy="475488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6616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2104" y="2770632"/>
            <a:ext cx="3200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514600"/>
            <a:ext cx="76809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52144" y="2514600"/>
            <a:ext cx="54864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98448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Question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98448" y="2790621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features of a house, what will it sell for?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56616" y="3328416"/>
            <a:ext cx="475488" cy="475488"/>
          </a:xfrm>
          <a:prstGeom prst="ellipse">
            <a:avLst/>
          </a:prstGeom>
          <a:solidFill>
            <a:srgbClr val="FCD34D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32104" y="3566160"/>
            <a:ext cx="320040" cy="0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52144" y="3310128"/>
            <a:ext cx="76809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52144" y="3310128"/>
            <a:ext cx="54864" cy="6858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98448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Equation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98448" y="3586149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SalePrice = b₀ + b₁·GrLivArea + b₂·OverallQual + … — each coefficient is directly readable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56616" y="4123944"/>
            <a:ext cx="475488" cy="475488"/>
          </a:xfrm>
          <a:prstGeom prst="ellipse">
            <a:avLst/>
          </a:prstGeom>
          <a:solidFill>
            <a:srgbClr val="F87171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6616" y="4123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32104" y="4361688"/>
            <a:ext cx="32004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52144" y="4105656"/>
            <a:ext cx="76809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52144" y="4105656"/>
            <a:ext cx="54864" cy="685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98448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NOT Logistic Reg?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298448" y="4381677"/>
            <a:ext cx="7406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outputs P between 0–1. A house price of $350,000 can't fit in that range. Output type determines model family.</a:t>
            </a:r>
            <a:endParaRPr lang="en-US" sz="1100" dirty="0"/>
          </a:p>
        </p:txBody>
      </p:sp>
      <p:pic>
        <p:nvPicPr>
          <p:cNvPr id="30" name="Picture 29" descr="A sticker of a cat&#10;&#10;AI-generated content may be incorrect.">
            <a:extLst>
              <a:ext uri="{FF2B5EF4-FFF2-40B4-BE49-F238E27FC236}">
                <a16:creationId xmlns:a16="http://schemas.microsoft.com/office/drawing/2014/main" id="{75ED59A0-FA5A-D2A6-0B4F-3C0B20DAA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962" y="499940"/>
            <a:ext cx="1964108" cy="18786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4">
            <a:extLst>
              <a:ext uri="{FF2B5EF4-FFF2-40B4-BE49-F238E27FC236}">
                <a16:creationId xmlns:a16="http://schemas.microsoft.com/office/drawing/2014/main" id="{666D7391-2CE6-D669-0E78-C6344AD31827}"/>
              </a:ext>
            </a:extLst>
          </p:cNvPr>
          <p:cNvSpPr/>
          <p:nvPr/>
        </p:nvSpPr>
        <p:spPr>
          <a:xfrm>
            <a:off x="4806979" y="1589213"/>
            <a:ext cx="0" cy="50292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Log-Transform the Target?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74793" y="1298732"/>
            <a:ext cx="1591056" cy="1591056"/>
          </a:xfrm>
          <a:prstGeom prst="ellipse">
            <a:avLst/>
          </a:prstGeom>
          <a:solidFill>
            <a:srgbClr val="2C0A0A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4521" y="1408460"/>
            <a:ext cx="1371600" cy="1371600"/>
          </a:xfrm>
          <a:prstGeom prst="ellipse">
            <a:avLst/>
          </a:prstGeom>
          <a:solidFill>
            <a:srgbClr val="2C0A0A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4521" y="14084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5849" y="2094260"/>
            <a:ext cx="41148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76161" y="1893092"/>
            <a:ext cx="402336" cy="402336"/>
          </a:xfrm>
          <a:prstGeom prst="ellipse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175875" y="2085400"/>
            <a:ext cx="615270" cy="443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1145" y="2094260"/>
            <a:ext cx="0" cy="0"/>
          </a:xfrm>
          <a:prstGeom prst="line">
            <a:avLst/>
          </a:prstGeom>
          <a:noFill/>
          <a:ln w="15240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9122" y="2094260"/>
            <a:ext cx="0" cy="502920"/>
          </a:xfrm>
          <a:prstGeom prst="line">
            <a:avLst/>
          </a:prstGeom>
          <a:noFill/>
          <a:ln w="15240">
            <a:solidFill>
              <a:srgbClr val="F871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1145" y="1591340"/>
            <a:ext cx="274320" cy="0"/>
          </a:xfrm>
          <a:prstGeom prst="line">
            <a:avLst/>
          </a:prstGeom>
          <a:noFill/>
          <a:ln w="1524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3552" y="2597180"/>
            <a:ext cx="664179" cy="4430"/>
          </a:xfrm>
          <a:prstGeom prst="line">
            <a:avLst/>
          </a:prstGeom>
          <a:noFill/>
          <a:ln w="15240">
            <a:solidFill>
              <a:srgbClr val="F871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6826" y="1531195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46826" y="2514884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6743" y="112386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Skew: ~1.88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8372" y="267834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(long tail of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homes)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34612" y="1298732"/>
            <a:ext cx="1591056" cy="1591056"/>
          </a:xfrm>
          <a:prstGeom prst="ellipse">
            <a:avLst/>
          </a:prstGeom>
          <a:solidFill>
            <a:srgbClr val="0A2C28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4340" y="1408460"/>
            <a:ext cx="1371600" cy="1371600"/>
          </a:xfrm>
          <a:prstGeom prst="ellipse">
            <a:avLst/>
          </a:prstGeom>
          <a:solidFill>
            <a:srgbClr val="0A2C28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44340" y="14084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log1p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(Price)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23132" y="2094260"/>
            <a:ext cx="41148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6209" y="1893092"/>
            <a:ext cx="402336" cy="402336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45041" y="2094260"/>
            <a:ext cx="41148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33561" y="2094260"/>
            <a:ext cx="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33561" y="2094260"/>
            <a:ext cx="0" cy="50292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7485" y="1591340"/>
            <a:ext cx="739494" cy="443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99753" y="2601610"/>
            <a:ext cx="433808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7439" y="112386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Skew: ~0.12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02905" y="267834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Nearly normal;</a:t>
            </a:r>
            <a:endParaRPr lang="en-US" sz="950" dirty="0">
              <a:solidFill>
                <a:srgbClr val="94A3B8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happy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36281" y="2089830"/>
            <a:ext cx="2321796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47761" y="18656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47761" y="18656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log1p()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703320"/>
            <a:ext cx="8595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Inverse: np.expm1(predicted_log_price)  →  dollar prediction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05061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model predicts a log price, you must convert back. np.expm1 is the exact inverse of np.log1p.</a:t>
            </a:r>
            <a:endParaRPr lang="en-US" sz="1150" dirty="0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EF0DD515-E789-5510-6BA7-426994FA7D88}"/>
              </a:ext>
            </a:extLst>
          </p:cNvPr>
          <p:cNvSpPr/>
          <p:nvPr/>
        </p:nvSpPr>
        <p:spPr>
          <a:xfrm>
            <a:off x="3729122" y="1593643"/>
            <a:ext cx="0" cy="502920"/>
          </a:xfrm>
          <a:prstGeom prst="line">
            <a:avLst/>
          </a:prstGeom>
          <a:noFill/>
          <a:ln w="15240">
            <a:solidFill>
              <a:srgbClr val="F87171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2297" y="216904"/>
            <a:ext cx="1554480" cy="475488"/>
          </a:xfrm>
          <a:prstGeom prst="roundRect">
            <a:avLst>
              <a:gd name="adj" fmla="val 19231"/>
            </a:avLst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2297" y="2169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03937" y="24433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We Train — House Prices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793543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 — Run the correlation chart in your notebook, then discuss with your group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033" y="1431639"/>
            <a:ext cx="585216" cy="58521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033" y="1431639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13249" y="1724247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87569" y="1267047"/>
            <a:ext cx="78181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87569" y="1267047"/>
            <a:ext cx="54864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22194" y="1404207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Which feature is most correlated with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SalePrice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Does that match your intuition about what makes a house valuable?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28033" y="2574639"/>
            <a:ext cx="585216" cy="585216"/>
          </a:xfrm>
          <a:prstGeom prst="ellipse">
            <a:avLst/>
          </a:prstGeom>
          <a:solidFill>
            <a:srgbClr val="A78BF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8033" y="2574639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13249" y="2867247"/>
            <a:ext cx="2743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87569" y="2410047"/>
            <a:ext cx="78181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87569" y="2410047"/>
            <a:ext cx="54864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22194" y="2547207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predict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LogSalePrice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 A buyer asks for the price in dollars.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the one line of Python that converts the model output back: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predicted_price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= ???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28033" y="3717639"/>
            <a:ext cx="585216" cy="585216"/>
          </a:xfrm>
          <a:prstGeom prst="ellipse">
            <a:avLst/>
          </a:prstGeom>
          <a:solidFill>
            <a:srgbClr val="F87171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8033" y="3717639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13249" y="4010247"/>
            <a:ext cx="27432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87569" y="3553047"/>
            <a:ext cx="78181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87569" y="3553047"/>
            <a:ext cx="54864" cy="9601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22194" y="3690207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left out categorical features like Neighborhood and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HouseStyle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preprocessing step would we need to include 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them? What risk comes with adding 79+ features?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Evaluating the Regressor — Three Metrics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37761" y="704939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regression there are no classes — we measure how far off our predictions are.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6576" y="1171000"/>
            <a:ext cx="1234440" cy="502920"/>
          </a:xfrm>
          <a:prstGeom prst="roundRect">
            <a:avLst>
              <a:gd name="adj" fmla="val 27273"/>
            </a:avLst>
          </a:prstGeom>
          <a:solidFill>
            <a:srgbClr val="1E293B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6576" y="1171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1016" y="1417888"/>
            <a:ext cx="384048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7008" y="1353880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5064" y="1189288"/>
            <a:ext cx="457200" cy="45720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2264" y="1417888"/>
            <a:ext cx="27432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8341" y="109784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Mean Squared Error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68341" y="14636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F87171"/>
                </a:solidFill>
                <a:latin typeface="Consolas"/>
                <a:ea typeface="Consolas" pitchFamily="34" charset="-122"/>
                <a:cs typeface="Consolas" pitchFamily="34" charset="-120"/>
              </a:rPr>
              <a:t>Formula: √ ( Σ(actual − pred)² / n )</a:t>
            </a:r>
            <a:endParaRPr lang="en-US" sz="1050">
              <a:latin typeface="Consola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68341" y="176536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Average error magnitude. Penalizes large errors heavily (squares them). Same units as the target. </a:t>
            </a:r>
            <a:endParaRPr lang="en-US" sz="10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0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Naive baseline: </a:t>
            </a:r>
            <a:r>
              <a:rPr lang="en-US" sz="105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~$64k off.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56576" y="2432872"/>
            <a:ext cx="1234440" cy="502920"/>
          </a:xfrm>
          <a:prstGeom prst="roundRect">
            <a:avLst>
              <a:gd name="adj" fmla="val 27273"/>
            </a:avLst>
          </a:prstGeom>
          <a:solidFill>
            <a:srgbClr val="1E293B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6576" y="24328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191016" y="2679760"/>
            <a:ext cx="384048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27008" y="2615752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75064" y="2451160"/>
            <a:ext cx="457200" cy="45720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32264" y="2679760"/>
            <a:ext cx="2743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0620" y="23597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 Absolute Error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50620" y="2725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A78BFA"/>
                </a:solidFill>
                <a:latin typeface="Consolas"/>
                <a:ea typeface="Consolas" pitchFamily="34" charset="-122"/>
                <a:cs typeface="Consolas" pitchFamily="34" charset="-120"/>
              </a:rPr>
              <a:t>Formula: </a:t>
            </a:r>
            <a:r>
              <a:rPr lang="en-US" sz="1050">
                <a:solidFill>
                  <a:srgbClr val="A78BFA"/>
                </a:solidFill>
                <a:latin typeface="Consolas"/>
                <a:ea typeface="Consolas" pitchFamily="34" charset="-122"/>
                <a:cs typeface="Consolas" pitchFamily="34" charset="-120"/>
              </a:rPr>
              <a:t>Σ |actual</a:t>
            </a:r>
            <a:r>
              <a:rPr lang="en-US" sz="1050" dirty="0">
                <a:solidFill>
                  <a:srgbClr val="A78BFA"/>
                </a:solidFill>
                <a:latin typeface="Consolas"/>
                <a:ea typeface="Consolas" pitchFamily="34" charset="-122"/>
                <a:cs typeface="Consolas" pitchFamily="34" charset="-120"/>
              </a:rPr>
              <a:t> − pred| / n</a:t>
            </a:r>
            <a:endParaRPr lang="en-US" sz="1050" dirty="0">
              <a:latin typeface="Consola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50620" y="302723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Average absolute error. Literally: the average dollar amount you'd be wrong by. </a:t>
            </a:r>
            <a:endParaRPr lang="en-US" sz="10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0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More intuitive, less sensitive to </a:t>
            </a:r>
            <a:r>
              <a:rPr lang="en-US" sz="105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outliers.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56576" y="3694744"/>
            <a:ext cx="1234440" cy="502920"/>
          </a:xfrm>
          <a:prstGeom prst="roundRect">
            <a:avLst>
              <a:gd name="adj" fmla="val 27273"/>
            </a:avLst>
          </a:prstGeom>
          <a:solidFill>
            <a:srgbClr val="1E293B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6576" y="369474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191016" y="3941632"/>
            <a:ext cx="384048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27008" y="3877624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75064" y="3713032"/>
            <a:ext cx="457200" cy="45720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2264" y="3941632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0620" y="362159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R-Squared (Coefficient of Determination)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50620" y="39873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1 − SS_res / SS_tot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50620" y="428910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Fraction of variance explained. R² = 1.0 is perfect. </a:t>
            </a:r>
            <a:endParaRPr lang="en-US" sz="10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05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R² = 0.0 is the same as predicting the mean — our naive </a:t>
            </a:r>
            <a:r>
              <a:rPr lang="en-US" sz="1050" dirty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baseline.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3613"/>
            <a:ext cx="1554480" cy="475488"/>
          </a:xfrm>
          <a:prstGeom prst="roundRect">
            <a:avLst>
              <a:gd name="adj" fmla="val 19231"/>
            </a:avLst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3613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43809" y="20446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Coefficients &amp; Business Meaning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7315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— Run the coefficient chart and diagnostic plots, then answer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0312" y="1188720"/>
            <a:ext cx="585216" cy="58521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95528" y="1481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9848" y="1097280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9848" y="1097280"/>
            <a:ext cx="54864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57636" y="119814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Which feature has the largest positive coefficient?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Is it the same as the feature with the highest correlation from Section 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2.2?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10312" y="2121408"/>
            <a:ext cx="585216" cy="585216"/>
          </a:xfrm>
          <a:prstGeom prst="ellipse">
            <a:avLst/>
          </a:prstGeom>
          <a:solidFill>
            <a:srgbClr val="A78BF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0312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95528" y="2414016"/>
            <a:ext cx="2743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69848" y="2029968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69848" y="2029968"/>
            <a:ext cx="54864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57636" y="213083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YearBuilt has a positive coefficient.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does this mean in plain English — does an older or a newer house sell for more?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10312" y="3054096"/>
            <a:ext cx="585216" cy="585216"/>
          </a:xfrm>
          <a:prstGeom prst="ellipse">
            <a:avLst/>
          </a:prstGeom>
          <a:solidFill>
            <a:srgbClr val="F87171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0312" y="305409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95528" y="3346704"/>
            <a:ext cx="27432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69848" y="2962656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69848" y="2962656"/>
            <a:ext cx="54864" cy="7772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57636" y="306352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used 7 of 79 features.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is the risk of adding too many (overfitting)? What's the risk of using too few (underfitting)?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10312" y="3986784"/>
            <a:ext cx="585216" cy="585216"/>
          </a:xfrm>
          <a:prstGeom prst="ellipse">
            <a:avLst/>
          </a:prstGeom>
          <a:solidFill>
            <a:srgbClr val="FCD34D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10312" y="39867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95528" y="4279392"/>
            <a:ext cx="274320" cy="0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69848" y="3895344"/>
            <a:ext cx="7818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69848" y="3895344"/>
            <a:ext cx="54864" cy="777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57636" y="399621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Complete this in your notebook: 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dollar_prediction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= np.expm1(</a:t>
            </a:r>
            <a:r>
              <a:rPr lang="en-US" sz="12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lin_reg.predict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(sample)[0]) 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does np.expm1 do 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mathematically?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7005" y="127449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 Recap — Classification vs. Regression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-69644" y="2522043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used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39609" y="786384"/>
            <a:ext cx="2286000" cy="384048"/>
          </a:xfrm>
          <a:prstGeom prst="rect">
            <a:avLst/>
          </a:prstGeom>
          <a:solidFill>
            <a:srgbClr val="4A15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31049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17049" y="786384"/>
            <a:ext cx="2286000" cy="384048"/>
          </a:xfrm>
          <a:prstGeom prst="rect">
            <a:avLst/>
          </a:prstGeom>
          <a:solidFill>
            <a:srgbClr val="0A2C2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08489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625009" y="1216152"/>
            <a:ext cx="24231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16449" y="128016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type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39609" y="1216152"/>
            <a:ext cx="2286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A15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31049" y="12801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17049" y="1216152"/>
            <a:ext cx="2286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0A2C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08489" y="12801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570145" y="139903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533569" y="1453896"/>
            <a:ext cx="91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25009" y="1737360"/>
            <a:ext cx="24231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716449" y="180136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139609" y="1737360"/>
            <a:ext cx="228600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4A15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31049" y="180136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→ class label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17049" y="1737360"/>
            <a:ext cx="228600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A2C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08489" y="180136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number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570145" y="192024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533569" y="1975104"/>
            <a:ext cx="91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25009" y="2258568"/>
            <a:ext cx="24231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16449" y="2322576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139609" y="2258568"/>
            <a:ext cx="2286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A152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31049" y="232257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517049" y="2258568"/>
            <a:ext cx="2286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0A2C2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08489" y="232257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570145" y="2441448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533569" y="2496312"/>
            <a:ext cx="91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625009" y="2779776"/>
            <a:ext cx="24231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716449" y="284378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 baseline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139609" y="2779776"/>
            <a:ext cx="228600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4A152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231049" y="284378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majority class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517049" y="2779776"/>
            <a:ext cx="228600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A2C2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08489" y="284378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mean price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1570145" y="2962656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533569" y="3017520"/>
            <a:ext cx="91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625009" y="3300984"/>
            <a:ext cx="24231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716449" y="336499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4139609" y="3300984"/>
            <a:ext cx="2286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A152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231049" y="336499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AUC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6517049" y="3300984"/>
            <a:ext cx="2286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0A2C2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08489" y="336499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MAE, R²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1570145" y="3483864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533569" y="3538728"/>
            <a:ext cx="91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625009" y="3822192"/>
            <a:ext cx="24231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716449" y="38862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4139609" y="3822192"/>
            <a:ext cx="228600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4A152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231049" y="3886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 → log-odds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6517049" y="3822192"/>
            <a:ext cx="228600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A2C2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608489" y="388620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 → change in target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1570145" y="4005072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533569" y="4059936"/>
            <a:ext cx="91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625009" y="4343400"/>
            <a:ext cx="24231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716449" y="440740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4139609" y="4343400"/>
            <a:ext cx="2286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4A152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231049" y="440740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~81% accuracy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6517049" y="4343400"/>
            <a:ext cx="2286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0A2C2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608489" y="440740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~0.80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570145" y="4526280"/>
            <a:ext cx="109728" cy="10972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533569" y="4581144"/>
            <a:ext cx="91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 flipH="1">
            <a:off x="1529139" y="1254466"/>
            <a:ext cx="8862" cy="3517603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259249" y="2756314"/>
            <a:ext cx="2743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8229600" cy="1280160"/>
          </a:xfrm>
          <a:prstGeom prst="roundRect">
            <a:avLst>
              <a:gd name="adj" fmla="val 12857"/>
            </a:avLst>
          </a:prstGeom>
          <a:solidFill>
            <a:srgbClr val="0A2C28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7929" y="256032"/>
            <a:ext cx="78441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The Golden Rule</a:t>
            </a:r>
            <a:endParaRPr lang="en-US" sz="1600">
              <a:latin typeface="Trebuchet MS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5778" y="505755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The output type determines the model family.</a:t>
            </a:r>
            <a:endParaRPr lang="en-US" sz="1400" dirty="0">
              <a:latin typeface="Trebuchet MS"/>
            </a:endParaRP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A category → Classification. </a:t>
            </a:r>
            <a:endParaRPr lang="en-US" sz="1400" dirty="0">
              <a:solidFill>
                <a:srgbClr val="000000"/>
              </a:solidFill>
              <a:latin typeface="Trebuchet MS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4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A number on a continuous scale → Regression.</a:t>
            </a:r>
            <a:endParaRPr lang="en-US" sz="1400">
              <a:latin typeface="Trebuchet MS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16276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Coming — Lessons 4 &amp; 5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46888" y="2304288"/>
            <a:ext cx="694944" cy="694944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23042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41832" y="2651760"/>
            <a:ext cx="3200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61872" y="2103120"/>
            <a:ext cx="758952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1872" y="2103120"/>
            <a:ext cx="54864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4B8A6"/>
                </a:solidFill>
                <a:latin typeface="Trebuchet MS"/>
              </a:rPr>
              <a:t>Supervised Learning</a:t>
            </a: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74912" y="2573611"/>
            <a:ext cx="7213306" cy="44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CBD5E1"/>
                </a:solidFill>
                <a:ea typeface="+mn-lt"/>
                <a:cs typeface="+mn-lt"/>
              </a:rPr>
              <a:t>The session moves from the baselines built in Lesson 3 to Random Forest → </a:t>
            </a:r>
            <a:r>
              <a:rPr lang="en-US" sz="1150" dirty="0" err="1">
                <a:solidFill>
                  <a:srgbClr val="CBD5E1"/>
                </a:solidFill>
                <a:ea typeface="+mn-lt"/>
                <a:cs typeface="+mn-lt"/>
              </a:rPr>
              <a:t>XBoost</a:t>
            </a:r>
            <a:r>
              <a:rPr lang="en-US" sz="1150" dirty="0">
                <a:solidFill>
                  <a:srgbClr val="CBD5E1"/>
                </a:solidFill>
                <a:ea typeface="+mn-lt"/>
                <a:cs typeface="+mn-lt"/>
              </a:rPr>
              <a:t>, always asking "did this beat the previous model and why?" Overfitting and hyperparameter tuning land here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6888" y="3721608"/>
            <a:ext cx="694944" cy="694944"/>
          </a:xfrm>
          <a:prstGeom prst="ellipse">
            <a:avLst/>
          </a:prstGeom>
          <a:solidFill>
            <a:srgbClr val="A78BF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372160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41832" y="4069080"/>
            <a:ext cx="32004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1872" y="3520440"/>
            <a:ext cx="758952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1872" y="3520440"/>
            <a:ext cx="54864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A78BFA"/>
                </a:solidFill>
                <a:latin typeface="Trebuchet MS"/>
              </a:rPr>
              <a:t>Unsupervised Learning</a:t>
            </a: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48331" y="3933337"/>
            <a:ext cx="7266468" cy="320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>
                <a:solidFill>
                  <a:srgbClr val="CBD5E1"/>
                </a:solidFill>
                <a:ea typeface="Calibri"/>
                <a:cs typeface="Calibri"/>
              </a:rPr>
              <a:t>N/A</a:t>
            </a:r>
            <a:endParaRPr lang="en-US" sz="1150" dirty="0">
              <a:solidFill>
                <a:srgbClr val="CBD5E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8872"/>
            <a:ext cx="7315200" cy="475488"/>
          </a:xfrm>
          <a:prstGeom prst="roundRect">
            <a:avLst>
              <a:gd name="adj" fmla="val 34615"/>
            </a:avLst>
          </a:prstGeom>
          <a:solidFill>
            <a:srgbClr val="1A1040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Bonus Activity — Make a Real Prediction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7893" y="2175599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trained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 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profile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37360" y="731520"/>
            <a:ext cx="7223760" cy="1874520"/>
          </a:xfrm>
          <a:prstGeom prst="rect">
            <a:avLst/>
          </a:prstGeom>
          <a:solidFill>
            <a:srgbClr val="0A0F1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74520" y="795528"/>
            <a:ext cx="6995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/>
                <a:ea typeface="Consolas" pitchFamily="34" charset="-122"/>
                <a:cs typeface="Consolas" pitchFamily="34" charset="-120"/>
              </a:rPr>
              <a:t>new_passenger = pd.DataFrame([{</a:t>
            </a:r>
            <a:endParaRPr lang="en-US" sz="1100" dirty="0">
              <a:latin typeface="Consolas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"Pclass": 3,  "Sex": 0,  "Age": 22,  "SibSp": 1,</a:t>
            </a:r>
            <a:endParaRPr lang="en-US" sz="1100" dirty="0">
              <a:latin typeface="Consolas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"LogFare": np.log1p(7.25),  "FamilySize": 2,  "IsAlone": 0</a:t>
            </a:r>
            <a:endParaRPr lang="en-US" sz="1100" dirty="0">
              <a:latin typeface="Consolas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/>
                <a:ea typeface="Consolas" pitchFamily="34" charset="-122"/>
                <a:cs typeface="Consolas" pitchFamily="34" charset="-120"/>
              </a:rPr>
              <a:t>survival_prob = log_reg.predict_proba(scaler.transform(new_passenger))[0][1]</a:t>
            </a:r>
            <a:endParaRPr lang="en-US" sz="1100" dirty="0">
              <a:latin typeface="Consolas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/>
                <a:ea typeface="Consolas" pitchFamily="34" charset="-122"/>
                <a:cs typeface="Consolas" pitchFamily="34" charset="-120"/>
              </a:rPr>
              <a:t>print(f"Survival probability: {survival_prob:.1%}")</a:t>
            </a:r>
            <a:endParaRPr lang="en-US" sz="1100" dirty="0">
              <a:latin typeface="Consola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68680" y="2770632"/>
            <a:ext cx="0" cy="205740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90779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0976" y="2990088"/>
            <a:ext cx="41148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62456" y="2788920"/>
            <a:ext cx="1371600" cy="411480"/>
          </a:xfrm>
          <a:prstGeom prst="roundRect">
            <a:avLst>
              <a:gd name="adj" fmla="val 26667"/>
            </a:avLst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62456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this →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688336" y="293522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05223" y="2998948"/>
            <a:ext cx="228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79543" y="2825212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Sex to 1 (female). How much does the probability change?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86384" y="3456432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50976" y="3538728"/>
            <a:ext cx="41148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362456" y="3337560"/>
            <a:ext cx="1371600" cy="411480"/>
          </a:xfrm>
          <a:prstGeom prst="roundRect">
            <a:avLst>
              <a:gd name="adj" fmla="val 26667"/>
            </a:avLst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62456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this →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688336" y="3483864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805223" y="3547588"/>
            <a:ext cx="228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79543" y="3373852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Pclass to 1 (first class). How much does it change?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86384" y="4005072"/>
            <a:ext cx="164592" cy="16459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50976" y="4087368"/>
            <a:ext cx="411480" cy="0"/>
          </a:xfrm>
          <a:prstGeom prst="line">
            <a:avLst/>
          </a:prstGeom>
          <a:noFill/>
          <a:ln w="19050">
            <a:solidFill>
              <a:srgbClr val="FCD34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62456" y="3886200"/>
            <a:ext cx="1371600" cy="411480"/>
          </a:xfrm>
          <a:prstGeom prst="roundRect">
            <a:avLst>
              <a:gd name="adj" fmla="val 26667"/>
            </a:avLst>
          </a:prstGeom>
          <a:solidFill>
            <a:srgbClr val="1E293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62456" y="3886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 →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688336" y="4032504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805223" y="4096228"/>
            <a:ext cx="228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79543" y="3922492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passenger profile that gives the highest survival probability.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86384" y="4553712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50976" y="4636008"/>
            <a:ext cx="41148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362456" y="4434840"/>
            <a:ext cx="1371600" cy="411480"/>
          </a:xfrm>
          <a:prstGeom prst="roundRect">
            <a:avLst>
              <a:gd name="adj" fmla="val 26667"/>
            </a:avLst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62456" y="4434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data →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688336" y="458114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805223" y="4644868"/>
            <a:ext cx="228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079543" y="4471132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a real Titanic passenger. Enter their profile. Did the model get it right?</a:t>
            </a:r>
            <a:endParaRPr lang="en-US" sz="1100" dirty="0"/>
          </a:p>
        </p:txBody>
      </p:sp>
      <p:pic>
        <p:nvPicPr>
          <p:cNvPr id="39" name="Picture 38" descr="A cartoon cat with a red tie and a ball of yarn&#10;&#10;AI-generated content may be incorrect.">
            <a:extLst>
              <a:ext uri="{FF2B5EF4-FFF2-40B4-BE49-F238E27FC236}">
                <a16:creationId xmlns:a16="http://schemas.microsoft.com/office/drawing/2014/main" id="{4FC2B9A1-1E56-6156-51D0-7ADAA9D21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69" y="730434"/>
            <a:ext cx="1556120" cy="1573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That's a Wrap!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— Data Preparation &amp; Baseline Modeling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0" cy="3401568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" y="1435608"/>
            <a:ext cx="475488" cy="475488"/>
          </a:xfrm>
          <a:prstGeom prst="ellipse">
            <a:avLst/>
          </a:prstGeom>
          <a:solidFill>
            <a:srgbClr val="14B8A6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2104" y="1673352"/>
            <a:ext cx="320040" cy="0"/>
          </a:xfrm>
          <a:prstGeom prst="line">
            <a:avLst/>
          </a:prstGeom>
          <a:noFill/>
          <a:ln w="1651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144" y="1417320"/>
            <a:ext cx="76809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1417320"/>
            <a:ext cx="54864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3634" y="1472751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type determines the model — always ask this first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6616" y="2139696"/>
            <a:ext cx="475488" cy="475488"/>
          </a:xfrm>
          <a:prstGeom prst="ellipse">
            <a:avLst/>
          </a:prstGeom>
          <a:solidFill>
            <a:srgbClr val="A78BF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2139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" y="2377440"/>
            <a:ext cx="320040" cy="0"/>
          </a:xfrm>
          <a:prstGeom prst="line">
            <a:avLst/>
          </a:prstGeom>
          <a:noFill/>
          <a:ln w="1651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" y="2121408"/>
            <a:ext cx="76809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2144" y="2121408"/>
            <a:ext cx="54864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3634" y="2176839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never model-ready — preparation is 70% of the work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6616" y="2843784"/>
            <a:ext cx="475488" cy="475488"/>
          </a:xfrm>
          <a:prstGeom prst="ellipse">
            <a:avLst/>
          </a:prstGeom>
          <a:solidFill>
            <a:srgbClr val="F87171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2104" y="3081528"/>
            <a:ext cx="320040" cy="0"/>
          </a:xfrm>
          <a:prstGeom prst="line">
            <a:avLst/>
          </a:prstGeom>
          <a:noFill/>
          <a:ln w="16510">
            <a:solidFill>
              <a:srgbClr val="F871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2144" y="2825496"/>
            <a:ext cx="76809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2144" y="2825496"/>
            <a:ext cx="54864" cy="5303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3634" y="2880927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establish a naive baseline before claiming your model is good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56616" y="3547872"/>
            <a:ext cx="475488" cy="475488"/>
          </a:xfrm>
          <a:prstGeom prst="ellipse">
            <a:avLst/>
          </a:prstGeom>
          <a:solidFill>
            <a:srgbClr val="FCD34D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" y="3547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2104" y="3785616"/>
            <a:ext cx="320040" cy="0"/>
          </a:xfrm>
          <a:prstGeom prst="line">
            <a:avLst/>
          </a:prstGeom>
          <a:noFill/>
          <a:ln w="16510">
            <a:solidFill>
              <a:srgbClr val="FCD3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2144" y="3529584"/>
            <a:ext cx="76809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52144" y="3529584"/>
            <a:ext cx="54864" cy="5303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3634" y="3585015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models (LR) are often the right first step before going complex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56616" y="4251960"/>
            <a:ext cx="475488" cy="475488"/>
          </a:xfrm>
          <a:prstGeom prst="ellipse">
            <a:avLst/>
          </a:prstGeom>
          <a:solidFill>
            <a:srgbClr val="34D399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2104" y="4489704"/>
            <a:ext cx="320040" cy="0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52144" y="4233672"/>
            <a:ext cx="768096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52144" y="4233672"/>
            <a:ext cx="54864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13634" y="4289103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multiple metrics — accuracy alone doesn't tell the full story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74320" y="47823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i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See you in Lesson 4 — Supervised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7ACA90-ADD5-7B55-5266-4DD07071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A7E388-F87D-61F6-FA65-F793BB70ADE0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465A777-04C7-1520-82F8-280794359944}"/>
              </a:ext>
            </a:extLst>
          </p:cNvPr>
          <p:cNvSpPr/>
          <p:nvPr/>
        </p:nvSpPr>
        <p:spPr>
          <a:xfrm>
            <a:off x="0" y="64008"/>
            <a:ext cx="91440" cy="50794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2BA227A-8CCA-C454-0210-5E6C7942E4F2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E5D3E4B-9C53-B06C-6D78-3397FED95DE3}"/>
              </a:ext>
            </a:extLst>
          </p:cNvPr>
          <p:cNvSpPr/>
          <p:nvPr/>
        </p:nvSpPr>
        <p:spPr>
          <a:xfrm>
            <a:off x="540572" y="1036768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600" b="1" dirty="0">
              <a:solidFill>
                <a:srgbClr val="FFFFFF"/>
              </a:solidFill>
              <a:latin typeface="Quantic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F28E3-E000-618B-7E79-71AEDD5D36A3}"/>
              </a:ext>
            </a:extLst>
          </p:cNvPr>
          <p:cNvSpPr txBox="1"/>
          <p:nvPr/>
        </p:nvSpPr>
        <p:spPr>
          <a:xfrm>
            <a:off x="3225211" y="254737"/>
            <a:ext cx="289294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Trebuchet MS"/>
              </a:rPr>
              <a:t>Feedback Form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5" name="Picture 4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D5C7CA32-204E-E524-78A3-237EB519B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849" y="928134"/>
            <a:ext cx="3092302" cy="309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22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4D52E0DA1BEC4E99F2EF7383873057" ma:contentTypeVersion="17" ma:contentTypeDescription="Create a new document." ma:contentTypeScope="" ma:versionID="9863c32868341bb11426e9fe5ed0d4ad">
  <xsd:schema xmlns:xsd="http://www.w3.org/2001/XMLSchema" xmlns:xs="http://www.w3.org/2001/XMLSchema" xmlns:p="http://schemas.microsoft.com/office/2006/metadata/properties" xmlns:ns2="190c1648-b1d3-41dd-9752-7b8b6cd6cd68" xmlns:ns3="62ddbec2-0c56-4692-8112-7f137903115a" targetNamespace="http://schemas.microsoft.com/office/2006/metadata/properties" ma:root="true" ma:fieldsID="0e448373b816667779968cf8168fc742" ns2:_="" ns3:_="">
    <xsd:import namespace="190c1648-b1d3-41dd-9752-7b8b6cd6cd68"/>
    <xsd:import namespace="62ddbec2-0c56-4692-8112-7f13790311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0c1648-b1d3-41dd-9752-7b8b6cd6cd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91af29b-e898-46cd-ad54-75745d14b3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ddbec2-0c56-4692-8112-7f137903115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2458c20-7497-47ea-ba85-2b252405ce57}" ma:internalName="TaxCatchAll" ma:showField="CatchAllData" ma:web="62ddbec2-0c56-4692-8112-7f13790311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2ddbec2-0c56-4692-8112-7f137903115a" xsi:nil="true"/>
    <lcf76f155ced4ddcb4097134ff3c332f xmlns="190c1648-b1d3-41dd-9752-7b8b6cd6cd6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D938B72-67BF-423D-9BAC-16C7F59D3F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26A0CF-609B-4685-91A6-4BCF43A103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0c1648-b1d3-41dd-9752-7b8b6cd6cd68"/>
    <ds:schemaRef ds:uri="62ddbec2-0c56-4692-8112-7f13790311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4909B3-BADD-44D4-936B-96ACD2FBCC28}">
  <ds:schemaRefs>
    <ds:schemaRef ds:uri="http://schemas.microsoft.com/office/2006/metadata/properties"/>
    <ds:schemaRef ds:uri="http://schemas.microsoft.com/office/infopath/2007/PartnerControls"/>
    <ds:schemaRef ds:uri="62ddbec2-0c56-4692-8112-7f137903115a"/>
    <ds:schemaRef ds:uri="190c1648-b1d3-41dd-9752-7b8b6cd6cd6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 — Data Preparation &amp; Baseline Modeling</dc:title>
  <dc:subject>PptxGenJS Presentation</dc:subject>
  <dc:creator>PptxGenJS</dc:creator>
  <cp:lastModifiedBy>PptxGenJS</cp:lastModifiedBy>
  <cp:revision>485</cp:revision>
  <dcterms:created xsi:type="dcterms:W3CDTF">2026-03-19T14:39:31Z</dcterms:created>
  <dcterms:modified xsi:type="dcterms:W3CDTF">2026-04-02T23:56:43Z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0x010100C94D52E0DA1BEC4E99F2EF7383873057</vt:lpwstr>
  </property>
  <property fmtid="{D5CDD505-2E9C-101B-9397-08002B2CF9AE}" pid="3" name="MediaServiceImageTags">
    <vt:lpwstr/>
  </property>
</Properties>
</file>